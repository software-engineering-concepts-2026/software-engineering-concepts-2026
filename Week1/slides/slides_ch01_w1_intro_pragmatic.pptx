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Rectangle 1"/>
          <p:cNvSpPr/>
          <p:nvPr/>
        </p:nvSpPr>
        <p:spPr>
          <a:xfrm>
            <a:off x="5029200" y="914400"/>
            <a:ext cx="2103120" cy="54864"/>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32720" cy="1188720"/>
          </a:xfrm>
          <a:prstGeom prst="rect">
            <a:avLst/>
          </a:prstGeom>
          <a:noFill/>
        </p:spPr>
        <p:txBody>
          <a:bodyPr wrap="square" anchor="t">
            <a:spAutoFit/>
          </a:bodyPr>
          <a:lstStyle/>
          <a:p>
            <a:pPr algn="ctr"/>
            <a:r>
              <a:rPr sz="7200" b="1" i="0">
                <a:solidFill>
                  <a:srgbClr val="FFFFFF"/>
                </a:solidFill>
                <a:latin typeface="Tahoma"/>
              </a:rPr>
              <a:t>บทที่ 1</a:t>
            </a:r>
          </a:p>
        </p:txBody>
      </p:sp>
      <p:sp>
        <p:nvSpPr>
          <p:cNvPr id="4" name="TextBox 3"/>
          <p:cNvSpPr txBox="1"/>
          <p:nvPr/>
        </p:nvSpPr>
        <p:spPr>
          <a:xfrm>
            <a:off x="914400" y="2743200"/>
            <a:ext cx="10332720" cy="1188720"/>
          </a:xfrm>
          <a:prstGeom prst="rect">
            <a:avLst/>
          </a:prstGeom>
          <a:noFill/>
        </p:spPr>
        <p:txBody>
          <a:bodyPr wrap="square" anchor="t">
            <a:spAutoFit/>
          </a:bodyPr>
          <a:lstStyle/>
          <a:p>
            <a:pPr algn="ctr"/>
            <a:r>
              <a:rPr sz="4000" b="1" i="0">
                <a:solidFill>
                  <a:srgbClr val="FFFFFF"/>
                </a:solidFill>
                <a:latin typeface="Tahoma"/>
              </a:rPr>
              <a:t>แนะนำรายวิชาและปรัชญาวิศวกรรมซอฟต์แวร์</a:t>
            </a:r>
          </a:p>
        </p:txBody>
      </p:sp>
      <p:sp>
        <p:nvSpPr>
          <p:cNvPr id="5" name="TextBox 4"/>
          <p:cNvSpPr txBox="1"/>
          <p:nvPr/>
        </p:nvSpPr>
        <p:spPr>
          <a:xfrm>
            <a:off x="914400" y="4114800"/>
            <a:ext cx="10332720" cy="640080"/>
          </a:xfrm>
          <a:prstGeom prst="rect">
            <a:avLst/>
          </a:prstGeom>
          <a:noFill/>
        </p:spPr>
        <p:txBody>
          <a:bodyPr wrap="square" anchor="t">
            <a:spAutoFit/>
          </a:bodyPr>
          <a:lstStyle/>
          <a:p>
            <a:pPr algn="ctr"/>
            <a:r>
              <a:rPr sz="2200" b="0" i="1">
                <a:solidFill>
                  <a:srgbClr val="D9E2F3"/>
                </a:solidFill>
                <a:latin typeface="Tahoma"/>
              </a:rPr>
              <a:t>Software Engineering · Week 1 · Introduction &amp; Pragmatic Mindset</a:t>
            </a:r>
          </a:p>
        </p:txBody>
      </p:sp>
      <p:sp>
        <p:nvSpPr>
          <p:cNvPr id="6" name="Rectangle 5"/>
          <p:cNvSpPr/>
          <p:nvPr/>
        </p:nvSpPr>
        <p:spPr>
          <a:xfrm>
            <a:off x="5029200" y="4937760"/>
            <a:ext cx="2103120" cy="45720"/>
          </a:xfrm>
          <a:prstGeom prst="rect">
            <a:avLst/>
          </a:prstGeom>
          <a:solidFill>
            <a:srgbClr val="BF9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212080"/>
            <a:ext cx="10332720" cy="548640"/>
          </a:xfrm>
          <a:prstGeom prst="rect">
            <a:avLst/>
          </a:prstGeom>
          <a:noFill/>
        </p:spPr>
        <p:txBody>
          <a:bodyPr wrap="square" anchor="t">
            <a:spAutoFit/>
          </a:bodyPr>
          <a:lstStyle/>
          <a:p>
            <a:pPr algn="ctr"/>
            <a:r>
              <a:rPr sz="2200" b="0" i="0">
                <a:solidFill>
                  <a:srgbClr val="FFFFFF"/>
                </a:solidFill>
                <a:latin typeface="Tahoma"/>
              </a:rPr>
              <a:t>ธรรมรัตน์ ธรรมา</a:t>
            </a:r>
          </a:p>
        </p:txBody>
      </p:sp>
      <p:sp>
        <p:nvSpPr>
          <p:cNvPr id="8" name="TextBox 7"/>
          <p:cNvSpPr txBox="1"/>
          <p:nvPr/>
        </p:nvSpPr>
        <p:spPr>
          <a:xfrm>
            <a:off x="914400" y="5852160"/>
            <a:ext cx="10332720" cy="365760"/>
          </a:xfrm>
          <a:prstGeom prst="rect">
            <a:avLst/>
          </a:prstGeom>
          <a:noFill/>
        </p:spPr>
        <p:txBody>
          <a:bodyPr wrap="square" anchor="t">
            <a:spAutoFit/>
          </a:bodyPr>
          <a:lstStyle/>
          <a:p>
            <a:pPr algn="ctr"/>
            <a:r>
              <a:rPr sz="1600" b="0" i="1">
                <a:solidFill>
                  <a:srgbClr val="D9E2F3"/>
                </a:solidFill>
                <a:latin typeface="Tahoma"/>
              </a:rPr>
              <a:t>ภาควิชาวิทยาการคอมพิวเตอร์ · ภาคเรียนที่ 1 ปีการศึกษา 2569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914400"/>
            <a:ext cx="1371600" cy="1371600"/>
          </a:xfrm>
          <a:prstGeom prst="rect">
            <a:avLst/>
          </a:prstGeom>
          <a:noFill/>
        </p:spPr>
        <p:txBody>
          <a:bodyPr wrap="square" anchor="t">
            <a:spAutoFit/>
          </a:bodyPr>
          <a:lstStyle/>
          <a:p>
            <a:pPr algn="ctr"/>
            <a:r>
              <a:rPr sz="12000" b="1" i="0">
                <a:solidFill>
                  <a:srgbClr val="D9E2F3"/>
                </a:solidFill>
                <a:latin typeface="Tahoma"/>
              </a:rPr>
              <a:t>"</a:t>
            </a:r>
          </a:p>
        </p:txBody>
      </p:sp>
      <p:sp>
        <p:nvSpPr>
          <p:cNvPr id="3" name="TextBox 2"/>
          <p:cNvSpPr txBox="1"/>
          <p:nvPr/>
        </p:nvSpPr>
        <p:spPr>
          <a:xfrm>
            <a:off x="1645920" y="2194560"/>
            <a:ext cx="8686800" cy="2560320"/>
          </a:xfrm>
          <a:prstGeom prst="rect">
            <a:avLst/>
          </a:prstGeom>
          <a:noFill/>
        </p:spPr>
        <p:txBody>
          <a:bodyPr wrap="square" anchor="t">
            <a:spAutoFit/>
          </a:bodyPr>
          <a:lstStyle/>
          <a:p>
            <a:pPr algn="ctr"/>
            <a:r>
              <a:rPr sz="2400" b="0" i="1">
                <a:solidFill>
                  <a:srgbClr val="1F1F1F"/>
                </a:solidFill>
                <a:latin typeface="Tahoma"/>
              </a:rPr>
              <a:t>In the rush to add yet another feature, yet another product,
yet another layer of abstraction, it's easy to forget that what
we're really doing is trying to make our lives easier.</a:t>
            </a:r>
          </a:p>
        </p:txBody>
      </p:sp>
      <p:sp>
        <p:nvSpPr>
          <p:cNvPr id="4" name="TextBox 3"/>
          <p:cNvSpPr txBox="1"/>
          <p:nvPr/>
        </p:nvSpPr>
        <p:spPr>
          <a:xfrm>
            <a:off x="1645920" y="5120640"/>
            <a:ext cx="8686800" cy="457200"/>
          </a:xfrm>
          <a:prstGeom prst="rect">
            <a:avLst/>
          </a:prstGeom>
          <a:noFill/>
        </p:spPr>
        <p:txBody>
          <a:bodyPr wrap="square" anchor="t">
            <a:spAutoFit/>
          </a:bodyPr>
          <a:lstStyle/>
          <a:p>
            <a:pPr algn="ctr"/>
            <a:r>
              <a:rPr sz="1800" b="1" i="0">
                <a:solidFill>
                  <a:srgbClr val="1F4E79"/>
                </a:solidFill>
                <a:latin typeface="Tahoma"/>
              </a:rPr>
              <a:t>— Andrew Hunt &amp; David Thomas</a:t>
            </a:r>
          </a:p>
        </p:txBody>
      </p:sp>
      <p:sp>
        <p:nvSpPr>
          <p:cNvPr id="5" name="TextBox 4"/>
          <p:cNvSpPr txBox="1"/>
          <p:nvPr/>
        </p:nvSpPr>
        <p:spPr>
          <a:xfrm>
            <a:off x="1645920" y="5532120"/>
            <a:ext cx="8686800" cy="457200"/>
          </a:xfrm>
          <a:prstGeom prst="rect">
            <a:avLst/>
          </a:prstGeom>
          <a:noFill/>
        </p:spPr>
        <p:txBody>
          <a:bodyPr wrap="square" anchor="t">
            <a:spAutoFit/>
          </a:bodyPr>
          <a:lstStyle/>
          <a:p>
            <a:pPr algn="ctr"/>
            <a:r>
              <a:rPr sz="1400" b="0" i="1">
                <a:solidFill>
                  <a:srgbClr val="595959"/>
                </a:solidFill>
                <a:latin typeface="Tahoma"/>
              </a:rPr>
              <a:t>The Pragmatic Programmer, Your Journey to Mastery (2019)</a:t>
            </a:r>
          </a:p>
        </p:txBody>
      </p:sp>
      <p:sp>
        <p:nvSpPr>
          <p:cNvPr id="6" name="TextBox 5"/>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7" name="TextBox 6"/>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Post-quiz — ท้ายคาบ 1:45–2:00</a:t>
            </a:r>
          </a:p>
        </p:txBody>
      </p:sp>
      <p:sp>
        <p:nvSpPr>
          <p:cNvPr id="3" name="TextBox 2"/>
          <p:cNvSpPr txBox="1"/>
          <p:nvPr/>
        </p:nvSpPr>
        <p:spPr>
          <a:xfrm>
            <a:off x="457200" y="868680"/>
            <a:ext cx="11247120" cy="365760"/>
          </a:xfrm>
          <a:prstGeom prst="rect">
            <a:avLst/>
          </a:prstGeom>
          <a:noFill/>
        </p:spPr>
        <p:txBody>
          <a:bodyPr wrap="square" anchor="t">
            <a:spAutoFit/>
          </a:bodyPr>
          <a:lstStyle/>
          <a:p>
            <a:pPr algn="l"/>
            <a:r>
              <a:rPr sz="1600" b="0" i="1">
                <a:solidFill>
                  <a:srgbClr val="595959"/>
                </a:solidFill>
                <a:latin typeface="Tahoma"/>
              </a:rPr>
              <a:t>Post-quiz · 5 MCQ · 1.5%</a:t>
            </a:r>
          </a:p>
        </p:txBody>
      </p:sp>
      <p:sp>
        <p:nvSpPr>
          <p:cNvPr id="4" name="Rectangle 3"/>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1247120" cy="365760"/>
          </a:xfrm>
          <a:prstGeom prst="rect">
            <a:avLst/>
          </a:prstGeom>
          <a:noFill/>
        </p:spPr>
        <p:txBody>
          <a:bodyPr wrap="square" anchor="t">
            <a:spAutoFit/>
          </a:bodyPr>
          <a:lstStyle/>
          <a:p>
            <a:pPr algn="l"/>
            <a:r>
              <a:rPr sz="1500" b="0" i="1">
                <a:solidFill>
                  <a:srgbClr val="595959"/>
                </a:solidFill>
                <a:latin typeface="Tahoma"/>
              </a:rPr>
              <a:t>ท้ายคาบด้วย Post-quiz เพื่อ (1) วัดความเข้าใจหลังเรียน และ (2) สะท้อนความคิดก่อนเข้า Lab</a:t>
            </a:r>
          </a:p>
        </p:txBody>
      </p:sp>
      <p:sp>
        <p:nvSpPr>
          <p:cNvPr id="6" name="Rounded Rectangle 5"/>
          <p:cNvSpPr/>
          <p:nvPr/>
        </p:nvSpPr>
        <p:spPr>
          <a:xfrm>
            <a:off x="640080" y="1920240"/>
            <a:ext cx="10972800" cy="3931920"/>
          </a:xfrm>
          <a:prstGeom prst="roundRect">
            <a:avLst/>
          </a:prstGeom>
          <a:solidFill>
            <a:srgbClr val="D9E2F3"/>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800" i="0" b="1">
                <a:solidFill>
                  <a:srgbClr val="1F4E79"/>
                </a:solidFill>
                <a:latin typeface="Tahoma"/>
              </a:rPr>
              <a:t>Section A — 5 MCQ · 0.3 คะแนนต่อข้อ · เวลา 15 นาที</a:t>
            </a:r>
          </a:p>
          <a:p>
            <a:pPr>
              <a:spcAft>
                <a:spcPts val="800"/>
              </a:spcAft>
            </a:pPr>
            <a:r>
              <a:rPr sz="1500">
                <a:solidFill>
                  <a:srgbClr val="1F1F1F"/>
                </a:solidFill>
                <a:latin typeface="Tahoma"/>
              </a:rPr>
              <a:t>A1. PP Tip 5 ("Don't Live with Broken Windows") เกี่ยวกับแนวคิดใด?</a:t>
            </a:r>
          </a:p>
          <a:p>
            <a:pPr>
              <a:spcAft>
                <a:spcPts val="800"/>
              </a:spcAft>
            </a:pPr>
            <a:r>
              <a:rPr sz="1500">
                <a:solidFill>
                  <a:srgbClr val="1F1F1F"/>
                </a:solidFill>
                <a:latin typeface="Tahoma"/>
              </a:rPr>
              <a:t>A2. Project-based vs Product-based — มิติ ระยะเวลา ต่างกันอย่างไร?</a:t>
            </a:r>
          </a:p>
          <a:p>
            <a:pPr>
              <a:spcAft>
                <a:spcPts val="800"/>
              </a:spcAft>
            </a:pPr>
            <a:r>
              <a:rPr sz="1500">
                <a:solidFill>
                  <a:srgbClr val="1F1F1F"/>
                </a:solidFill>
                <a:latin typeface="Tahoma"/>
              </a:rPr>
              <a:t>A3. Moore's Product Vision template มีกี่ส่วนหลัก?</a:t>
            </a:r>
          </a:p>
          <a:p>
            <a:pPr>
              <a:spcAft>
                <a:spcPts val="800"/>
              </a:spcAft>
            </a:pPr>
            <a:r>
              <a:rPr sz="1500">
                <a:solidFill>
                  <a:srgbClr val="1F1F1F"/>
                </a:solidFill>
                <a:latin typeface="Tahoma"/>
              </a:rPr>
              <a:t>A4. ข้อใดเป็นหลัก ACM Code of Ethics (2018)?</a:t>
            </a:r>
          </a:p>
          <a:p>
            <a:pPr>
              <a:spcAft>
                <a:spcPts val="800"/>
              </a:spcAft>
            </a:pPr>
            <a:r>
              <a:rPr sz="1500">
                <a:solidFill>
                  <a:srgbClr val="1F1F1F"/>
                </a:solidFill>
                <a:latin typeface="Tahoma"/>
              </a:rPr>
              <a:t>A5. Knowledge Portfolio — "Diversify" หมายถึงอะไร?</a:t>
            </a:r>
          </a:p>
        </p:txBody>
      </p:sp>
      <p:sp>
        <p:nvSpPr>
          <p:cNvPr id="7" name="TextBox 6"/>
          <p:cNvSpPr txBox="1"/>
          <p:nvPr/>
        </p:nvSpPr>
        <p:spPr>
          <a:xfrm>
            <a:off x="457200" y="6035040"/>
            <a:ext cx="11247120" cy="365760"/>
          </a:xfrm>
          <a:prstGeom prst="rect">
            <a:avLst/>
          </a:prstGeom>
          <a:noFill/>
        </p:spPr>
        <p:txBody>
          <a:bodyPr wrap="square" anchor="t">
            <a:spAutoFit/>
          </a:bodyPr>
          <a:lstStyle/>
          <a:p>
            <a:pPr algn="ctr"/>
            <a:r>
              <a:rPr sz="1300" b="1" i="1">
                <a:solidFill>
                  <a:srgbClr val="BF9000"/>
                </a:solidFill>
                <a:latin typeface="Tahoma"/>
              </a:rPr>
              <a:t>💡 เฉลยอยู่ใน quiz.md (ห้ามเปิดจนกว่าจะ submit)</a:t>
            </a:r>
          </a:p>
        </p:txBody>
      </p:sp>
      <p:sp>
        <p:nvSpPr>
          <p:cNvPr id="8" name="TextBox 7"/>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9" name="TextBox 8"/>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วันนี้เราจะพูดถึงอะไรบ้าง</a:t>
            </a:r>
          </a:p>
        </p:txBody>
      </p:sp>
      <p:sp>
        <p:nvSpPr>
          <p:cNvPr id="3" name="TextBox 2"/>
          <p:cNvSpPr txBox="1"/>
          <p:nvPr/>
        </p:nvSpPr>
        <p:spPr>
          <a:xfrm>
            <a:off x="457200" y="868680"/>
            <a:ext cx="11247120" cy="365760"/>
          </a:xfrm>
          <a:prstGeom prst="rect">
            <a:avLst/>
          </a:prstGeom>
          <a:noFill/>
        </p:spPr>
        <p:txBody>
          <a:bodyPr wrap="square" anchor="t">
            <a:spAutoFit/>
          </a:bodyPr>
          <a:lstStyle/>
          <a:p>
            <a:pPr algn="l"/>
            <a:r>
              <a:rPr sz="1600" b="0" i="1">
                <a:solidFill>
                  <a:srgbClr val="595959"/>
                </a:solidFill>
                <a:latin typeface="Tahoma"/>
              </a:rPr>
              <a:t>Today</a:t>
            </a:r>
          </a:p>
        </p:txBody>
      </p:sp>
      <p:sp>
        <p:nvSpPr>
          <p:cNvPr id="4" name="Rectangle 3"/>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554480"/>
            <a:ext cx="777240" cy="7772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19072"/>
            <a:ext cx="777240" cy="457200"/>
          </a:xfrm>
          <a:prstGeom prst="rect">
            <a:avLst/>
          </a:prstGeom>
          <a:noFill/>
        </p:spPr>
        <p:txBody>
          <a:bodyPr wrap="square" anchor="t">
            <a:spAutoFit/>
          </a:bodyPr>
          <a:lstStyle/>
          <a:p>
            <a:pPr algn="ctr"/>
            <a:r>
              <a:rPr sz="2400" b="1" i="0">
                <a:solidFill>
                  <a:srgbClr val="FFFFFF"/>
                </a:solidFill>
                <a:latin typeface="Tahoma"/>
              </a:rPr>
              <a:t>1</a:t>
            </a:r>
          </a:p>
        </p:txBody>
      </p:sp>
      <p:sp>
        <p:nvSpPr>
          <p:cNvPr id="7" name="TextBox 6"/>
          <p:cNvSpPr txBox="1"/>
          <p:nvPr/>
        </p:nvSpPr>
        <p:spPr>
          <a:xfrm>
            <a:off x="1828800" y="1554480"/>
            <a:ext cx="9601200" cy="411480"/>
          </a:xfrm>
          <a:prstGeom prst="rect">
            <a:avLst/>
          </a:prstGeom>
          <a:noFill/>
        </p:spPr>
        <p:txBody>
          <a:bodyPr wrap="square" anchor="t">
            <a:spAutoFit/>
          </a:bodyPr>
          <a:lstStyle/>
          <a:p>
            <a:pPr algn="l"/>
            <a:r>
              <a:rPr sz="2200" b="1" i="0">
                <a:solidFill>
                  <a:srgbClr val="1F4E79"/>
                </a:solidFill>
                <a:latin typeface="Tahoma"/>
              </a:rPr>
              <a:t>Course Overview</a:t>
            </a:r>
          </a:p>
        </p:txBody>
      </p:sp>
      <p:sp>
        <p:nvSpPr>
          <p:cNvPr id="8" name="TextBox 7"/>
          <p:cNvSpPr txBox="1"/>
          <p:nvPr/>
        </p:nvSpPr>
        <p:spPr>
          <a:xfrm>
            <a:off x="1828800" y="2011680"/>
            <a:ext cx="9601200" cy="365760"/>
          </a:xfrm>
          <a:prstGeom prst="rect">
            <a:avLst/>
          </a:prstGeom>
          <a:noFill/>
        </p:spPr>
        <p:txBody>
          <a:bodyPr wrap="square" anchor="t">
            <a:spAutoFit/>
          </a:bodyPr>
          <a:lstStyle/>
          <a:p>
            <a:pPr algn="l"/>
            <a:r>
              <a:rPr sz="1500" b="0" i="1">
                <a:solidFill>
                  <a:srgbClr val="595959"/>
                </a:solidFill>
                <a:latin typeface="Tahoma"/>
              </a:rPr>
              <a:t>ภาพรวมรายวิชา 15 สัปดาห์ · Learning Objectives</a:t>
            </a:r>
          </a:p>
        </p:txBody>
      </p:sp>
      <p:sp>
        <p:nvSpPr>
          <p:cNvPr id="9" name="Oval 8"/>
          <p:cNvSpPr/>
          <p:nvPr/>
        </p:nvSpPr>
        <p:spPr>
          <a:xfrm>
            <a:off x="731520" y="2468880"/>
            <a:ext cx="777240" cy="7772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33472"/>
            <a:ext cx="777240" cy="457200"/>
          </a:xfrm>
          <a:prstGeom prst="rect">
            <a:avLst/>
          </a:prstGeom>
          <a:noFill/>
        </p:spPr>
        <p:txBody>
          <a:bodyPr wrap="square" anchor="t">
            <a:spAutoFit/>
          </a:bodyPr>
          <a:lstStyle/>
          <a:p>
            <a:pPr algn="ctr"/>
            <a:r>
              <a:rPr sz="2400" b="1" i="0">
                <a:solidFill>
                  <a:srgbClr val="FFFFFF"/>
                </a:solidFill>
                <a:latin typeface="Tahoma"/>
              </a:rPr>
              <a:t>2</a:t>
            </a:r>
          </a:p>
        </p:txBody>
      </p:sp>
      <p:sp>
        <p:nvSpPr>
          <p:cNvPr id="11" name="TextBox 10"/>
          <p:cNvSpPr txBox="1"/>
          <p:nvPr/>
        </p:nvSpPr>
        <p:spPr>
          <a:xfrm>
            <a:off x="1828800" y="2468880"/>
            <a:ext cx="9601200" cy="411480"/>
          </a:xfrm>
          <a:prstGeom prst="rect">
            <a:avLst/>
          </a:prstGeom>
          <a:noFill/>
        </p:spPr>
        <p:txBody>
          <a:bodyPr wrap="square" anchor="t">
            <a:spAutoFit/>
          </a:bodyPr>
          <a:lstStyle/>
          <a:p>
            <a:pPr algn="l"/>
            <a:r>
              <a:rPr sz="2200" b="1" i="0">
                <a:solidFill>
                  <a:srgbClr val="1F4E79"/>
                </a:solidFill>
                <a:latin typeface="Tahoma"/>
              </a:rPr>
              <a:t>Project vs Product</a:t>
            </a:r>
          </a:p>
        </p:txBody>
      </p:sp>
      <p:sp>
        <p:nvSpPr>
          <p:cNvPr id="12" name="TextBox 11"/>
          <p:cNvSpPr txBox="1"/>
          <p:nvPr/>
        </p:nvSpPr>
        <p:spPr>
          <a:xfrm>
            <a:off x="1828800" y="2926080"/>
            <a:ext cx="9601200" cy="365760"/>
          </a:xfrm>
          <a:prstGeom prst="rect">
            <a:avLst/>
          </a:prstGeom>
          <a:noFill/>
        </p:spPr>
        <p:txBody>
          <a:bodyPr wrap="square" anchor="t">
            <a:spAutoFit/>
          </a:bodyPr>
          <a:lstStyle/>
          <a:p>
            <a:pPr algn="l"/>
            <a:r>
              <a:rPr sz="1500" b="0" i="1">
                <a:solidFill>
                  <a:srgbClr val="595959"/>
                </a:solidFill>
                <a:latin typeface="Tahoma"/>
              </a:rPr>
              <a:t>ทำไมซอฟต์แวร์ไม่ใช่ 'งาน' ที่ส่งแล้วจบ</a:t>
            </a:r>
          </a:p>
        </p:txBody>
      </p:sp>
      <p:sp>
        <p:nvSpPr>
          <p:cNvPr id="13" name="Oval 12"/>
          <p:cNvSpPr/>
          <p:nvPr/>
        </p:nvSpPr>
        <p:spPr>
          <a:xfrm>
            <a:off x="731520" y="3383280"/>
            <a:ext cx="777240" cy="7772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547872"/>
            <a:ext cx="777240" cy="457200"/>
          </a:xfrm>
          <a:prstGeom prst="rect">
            <a:avLst/>
          </a:prstGeom>
          <a:noFill/>
        </p:spPr>
        <p:txBody>
          <a:bodyPr wrap="square" anchor="t">
            <a:spAutoFit/>
          </a:bodyPr>
          <a:lstStyle/>
          <a:p>
            <a:pPr algn="ctr"/>
            <a:r>
              <a:rPr sz="2400" b="1" i="0">
                <a:solidFill>
                  <a:srgbClr val="FFFFFF"/>
                </a:solidFill>
                <a:latin typeface="Tahoma"/>
              </a:rPr>
              <a:t>3</a:t>
            </a:r>
          </a:p>
        </p:txBody>
      </p:sp>
      <p:sp>
        <p:nvSpPr>
          <p:cNvPr id="15" name="TextBox 14"/>
          <p:cNvSpPr txBox="1"/>
          <p:nvPr/>
        </p:nvSpPr>
        <p:spPr>
          <a:xfrm>
            <a:off x="1828800" y="3383280"/>
            <a:ext cx="9601200" cy="411480"/>
          </a:xfrm>
          <a:prstGeom prst="rect">
            <a:avLst/>
          </a:prstGeom>
          <a:noFill/>
        </p:spPr>
        <p:txBody>
          <a:bodyPr wrap="square" anchor="t">
            <a:spAutoFit/>
          </a:bodyPr>
          <a:lstStyle/>
          <a:p>
            <a:pPr algn="l"/>
            <a:r>
              <a:rPr sz="2200" b="1" i="0">
                <a:solidFill>
                  <a:srgbClr val="1F4E79"/>
                </a:solidFill>
                <a:latin typeface="Tahoma"/>
              </a:rPr>
              <a:t>ปรัชญา Pragmatic</a:t>
            </a:r>
          </a:p>
        </p:txBody>
      </p:sp>
      <p:sp>
        <p:nvSpPr>
          <p:cNvPr id="16" name="TextBox 15"/>
          <p:cNvSpPr txBox="1"/>
          <p:nvPr/>
        </p:nvSpPr>
        <p:spPr>
          <a:xfrm>
            <a:off x="1828800" y="3840480"/>
            <a:ext cx="9601200" cy="365760"/>
          </a:xfrm>
          <a:prstGeom prst="rect">
            <a:avLst/>
          </a:prstGeom>
          <a:noFill/>
        </p:spPr>
        <p:txBody>
          <a:bodyPr wrap="square" anchor="t">
            <a:spAutoFit/>
          </a:bodyPr>
          <a:lstStyle/>
          <a:p>
            <a:pPr algn="l"/>
            <a:r>
              <a:rPr sz="1500" b="0" i="1">
                <a:solidFill>
                  <a:srgbClr val="595959"/>
                </a:solidFill>
                <a:latin typeface="Tahoma"/>
              </a:rPr>
              <a:t>Ownership · Broken Window · Good-Enough Software</a:t>
            </a:r>
          </a:p>
        </p:txBody>
      </p:sp>
      <p:sp>
        <p:nvSpPr>
          <p:cNvPr id="17" name="Oval 16"/>
          <p:cNvSpPr/>
          <p:nvPr/>
        </p:nvSpPr>
        <p:spPr>
          <a:xfrm>
            <a:off x="731520" y="4297680"/>
            <a:ext cx="777240" cy="7772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462272"/>
            <a:ext cx="777240" cy="457200"/>
          </a:xfrm>
          <a:prstGeom prst="rect">
            <a:avLst/>
          </a:prstGeom>
          <a:noFill/>
        </p:spPr>
        <p:txBody>
          <a:bodyPr wrap="square" anchor="t">
            <a:spAutoFit/>
          </a:bodyPr>
          <a:lstStyle/>
          <a:p>
            <a:pPr algn="ctr"/>
            <a:r>
              <a:rPr sz="2400" b="1" i="0">
                <a:solidFill>
                  <a:srgbClr val="FFFFFF"/>
                </a:solidFill>
                <a:latin typeface="Tahoma"/>
              </a:rPr>
              <a:t>4</a:t>
            </a:r>
          </a:p>
        </p:txBody>
      </p:sp>
      <p:sp>
        <p:nvSpPr>
          <p:cNvPr id="19" name="TextBox 18"/>
          <p:cNvSpPr txBox="1"/>
          <p:nvPr/>
        </p:nvSpPr>
        <p:spPr>
          <a:xfrm>
            <a:off x="1828800" y="4297680"/>
            <a:ext cx="9601200" cy="411480"/>
          </a:xfrm>
          <a:prstGeom prst="rect">
            <a:avLst/>
          </a:prstGeom>
          <a:noFill/>
        </p:spPr>
        <p:txBody>
          <a:bodyPr wrap="square" anchor="t">
            <a:spAutoFit/>
          </a:bodyPr>
          <a:lstStyle/>
          <a:p>
            <a:pPr algn="l"/>
            <a:r>
              <a:rPr sz="2200" b="1" i="0">
                <a:solidFill>
                  <a:srgbClr val="1F4E79"/>
                </a:solidFill>
                <a:latin typeface="Tahoma"/>
              </a:rPr>
              <a:t>Knowledge Portfolio</a:t>
            </a:r>
          </a:p>
        </p:txBody>
      </p:sp>
      <p:sp>
        <p:nvSpPr>
          <p:cNvPr id="20" name="TextBox 19"/>
          <p:cNvSpPr txBox="1"/>
          <p:nvPr/>
        </p:nvSpPr>
        <p:spPr>
          <a:xfrm>
            <a:off x="1828800" y="4754880"/>
            <a:ext cx="9601200" cy="365760"/>
          </a:xfrm>
          <a:prstGeom prst="rect">
            <a:avLst/>
          </a:prstGeom>
          <a:noFill/>
        </p:spPr>
        <p:txBody>
          <a:bodyPr wrap="square" anchor="t">
            <a:spAutoFit/>
          </a:bodyPr>
          <a:lstStyle/>
          <a:p>
            <a:pPr algn="l"/>
            <a:r>
              <a:rPr sz="1500" b="0" i="1">
                <a:solidFill>
                  <a:srgbClr val="595959"/>
                </a:solidFill>
                <a:latin typeface="Tahoma"/>
              </a:rPr>
              <a:t>ลงทุนในตนเองอย่างสม่ำเสมอ + Five Whys</a:t>
            </a:r>
          </a:p>
        </p:txBody>
      </p:sp>
      <p:sp>
        <p:nvSpPr>
          <p:cNvPr id="21" name="Oval 20"/>
          <p:cNvSpPr/>
          <p:nvPr/>
        </p:nvSpPr>
        <p:spPr>
          <a:xfrm>
            <a:off x="731520" y="5212080"/>
            <a:ext cx="777240" cy="7772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376672"/>
            <a:ext cx="777240" cy="457200"/>
          </a:xfrm>
          <a:prstGeom prst="rect">
            <a:avLst/>
          </a:prstGeom>
          <a:noFill/>
        </p:spPr>
        <p:txBody>
          <a:bodyPr wrap="square" anchor="t">
            <a:spAutoFit/>
          </a:bodyPr>
          <a:lstStyle/>
          <a:p>
            <a:pPr algn="ctr"/>
            <a:r>
              <a:rPr sz="2400" b="1" i="0">
                <a:solidFill>
                  <a:srgbClr val="FFFFFF"/>
                </a:solidFill>
                <a:latin typeface="Tahoma"/>
              </a:rPr>
              <a:t>5</a:t>
            </a:r>
          </a:p>
        </p:txBody>
      </p:sp>
      <p:sp>
        <p:nvSpPr>
          <p:cNvPr id="23" name="TextBox 22"/>
          <p:cNvSpPr txBox="1"/>
          <p:nvPr/>
        </p:nvSpPr>
        <p:spPr>
          <a:xfrm>
            <a:off x="1828800" y="5212080"/>
            <a:ext cx="9601200" cy="411480"/>
          </a:xfrm>
          <a:prstGeom prst="rect">
            <a:avLst/>
          </a:prstGeom>
          <a:noFill/>
        </p:spPr>
        <p:txBody>
          <a:bodyPr wrap="square" anchor="t">
            <a:spAutoFit/>
          </a:bodyPr>
          <a:lstStyle/>
          <a:p>
            <a:pPr algn="l"/>
            <a:r>
              <a:rPr sz="2200" b="1" i="0">
                <a:solidFill>
                  <a:srgbClr val="1F4E79"/>
                </a:solidFill>
                <a:latin typeface="Tahoma"/>
              </a:rPr>
              <a:t>จรรยาบรรณ + Lab 1</a:t>
            </a:r>
          </a:p>
        </p:txBody>
      </p:sp>
      <p:sp>
        <p:nvSpPr>
          <p:cNvPr id="24" name="TextBox 23"/>
          <p:cNvSpPr txBox="1"/>
          <p:nvPr/>
        </p:nvSpPr>
        <p:spPr>
          <a:xfrm>
            <a:off x="1828800" y="5669280"/>
            <a:ext cx="9601200" cy="365760"/>
          </a:xfrm>
          <a:prstGeom prst="rect">
            <a:avLst/>
          </a:prstGeom>
          <a:noFill/>
        </p:spPr>
        <p:txBody>
          <a:bodyPr wrap="square" anchor="t">
            <a:spAutoFit/>
          </a:bodyPr>
          <a:lstStyle/>
          <a:p>
            <a:pPr algn="l"/>
            <a:r>
              <a:rPr sz="1500" b="0" i="1">
                <a:solidFill>
                  <a:srgbClr val="595959"/>
                </a:solidFill>
                <a:latin typeface="Tahoma"/>
              </a:rPr>
              <a:t>ACM Code · First Pragmatic Commit</a:t>
            </a:r>
          </a:p>
        </p:txBody>
      </p:sp>
      <p:sp>
        <p:nvSpPr>
          <p:cNvPr id="25" name="TextBox 24"/>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26" name="TextBox 25"/>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วัตถุประสงค์การเรียนรู้</a:t>
            </a:r>
          </a:p>
        </p:txBody>
      </p:sp>
      <p:sp>
        <p:nvSpPr>
          <p:cNvPr id="3" name="TextBox 2"/>
          <p:cNvSpPr txBox="1"/>
          <p:nvPr/>
        </p:nvSpPr>
        <p:spPr>
          <a:xfrm>
            <a:off x="457200" y="868680"/>
            <a:ext cx="11247120" cy="365760"/>
          </a:xfrm>
          <a:prstGeom prst="rect">
            <a:avLst/>
          </a:prstGeom>
          <a:noFill/>
        </p:spPr>
        <p:txBody>
          <a:bodyPr wrap="square" anchor="t">
            <a:spAutoFit/>
          </a:bodyPr>
          <a:lstStyle/>
          <a:p>
            <a:pPr algn="l"/>
            <a:r>
              <a:rPr sz="1600" b="0" i="1">
                <a:solidFill>
                  <a:srgbClr val="595959"/>
                </a:solidFill>
                <a:latin typeface="Tahoma"/>
              </a:rPr>
              <a:t>Learning Objectives</a:t>
            </a:r>
          </a:p>
        </p:txBody>
      </p:sp>
      <p:sp>
        <p:nvSpPr>
          <p:cNvPr id="4" name="Rectangle 3"/>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972800" cy="365760"/>
          </a:xfrm>
          <a:prstGeom prst="rect">
            <a:avLst/>
          </a:prstGeom>
          <a:noFill/>
        </p:spPr>
        <p:txBody>
          <a:bodyPr wrap="square" anchor="t">
            <a:spAutoFit/>
          </a:bodyPr>
          <a:lstStyle/>
          <a:p>
            <a:pPr algn="l"/>
            <a:r>
              <a:rPr sz="1800" b="0" i="1">
                <a:solidFill>
                  <a:srgbClr val="595959"/>
                </a:solidFill>
                <a:latin typeface="Tahoma"/>
              </a:rPr>
              <a:t>เมื่อจบบทเรียนนี้ นิสิตสามารถ</a:t>
            </a:r>
          </a:p>
        </p:txBody>
      </p:sp>
      <p:sp>
        <p:nvSpPr>
          <p:cNvPr id="6" name="TextBox 5"/>
          <p:cNvSpPr txBox="1"/>
          <p:nvPr/>
        </p:nvSpPr>
        <p:spPr>
          <a:xfrm>
            <a:off x="640080" y="1874519"/>
            <a:ext cx="10972800" cy="4572000"/>
          </a:xfrm>
          <a:prstGeom prst="rect">
            <a:avLst/>
          </a:prstGeom>
          <a:noFill/>
        </p:spPr>
        <p:txBody>
          <a:bodyPr wrap="square">
            <a:spAutoFit/>
          </a:bodyPr>
          <a:lstStyle/>
          <a:p>
            <a:pPr>
              <a:spcAft>
                <a:spcPts val="1000"/>
              </a:spcAft>
            </a:pPr>
            <a:r>
              <a:rPr sz="2200" b="0">
                <a:solidFill>
                  <a:srgbClr val="1F1F1F"/>
                </a:solidFill>
                <a:latin typeface="Tahoma"/>
              </a:rPr>
              <a:t>• อธิบาย ความแตกต่างระหว่าง Project-based กับ Product-based ได้</a:t>
            </a:r>
          </a:p>
          <a:p>
            <a:pPr>
              <a:spcAft>
                <a:spcPts val="1000"/>
              </a:spcAft>
            </a:pPr>
            <a:r>
              <a:rPr sz="2200" b="0">
                <a:solidFill>
                  <a:srgbClr val="1F1F1F"/>
                </a:solidFill>
                <a:latin typeface="Tahoma"/>
              </a:rPr>
              <a:t>• ระบุ ลักษณะสำคัญของ Pragmatic Programmer และยกตัวอย่างการประยุกต์ใช้</a:t>
            </a:r>
          </a:p>
          <a:p>
            <a:pPr>
              <a:spcAft>
                <a:spcPts val="1000"/>
              </a:spcAft>
            </a:pPr>
            <a:r>
              <a:rPr sz="2200" b="0">
                <a:solidFill>
                  <a:srgbClr val="1F1F1F"/>
                </a:solidFill>
                <a:latin typeface="Tahoma"/>
              </a:rPr>
              <a:t>• วิเคราะห์ ปัญหา "Broken Window" ในโครงการ และเสนอแนวทางป้องกัน</a:t>
            </a:r>
          </a:p>
          <a:p>
            <a:pPr>
              <a:spcAft>
                <a:spcPts val="1000"/>
              </a:spcAft>
            </a:pPr>
            <a:r>
              <a:rPr sz="2200" b="0">
                <a:solidFill>
                  <a:srgbClr val="1F1F1F"/>
                </a:solidFill>
                <a:latin typeface="Tahoma"/>
              </a:rPr>
              <a:t>• อธิบาย แนวคิด Knowledge Portfolio และจัดทำแผนการเรียนรู้</a:t>
            </a:r>
          </a:p>
          <a:p>
            <a:pPr>
              <a:spcAft>
                <a:spcPts val="1000"/>
              </a:spcAft>
            </a:pPr>
            <a:r>
              <a:rPr sz="2200" b="0">
                <a:solidFill>
                  <a:srgbClr val="1F1F1F"/>
                </a:solidFill>
                <a:latin typeface="Tahoma"/>
              </a:rPr>
              <a:t>• สะท้อนคิด เกี่ยวกับจรรยาบรรณเบื้องต้นในงานวิศวกรรมซอฟต์แวร์</a:t>
            </a:r>
          </a:p>
        </p:txBody>
      </p:sp>
      <p:sp>
        <p:nvSpPr>
          <p:cNvPr id="7" name="TextBox 6"/>
          <p:cNvSpPr txBox="1"/>
          <p:nvPr/>
        </p:nvSpPr>
        <p:spPr>
          <a:xfrm>
            <a:off x="640080" y="5029200"/>
            <a:ext cx="4572000" cy="365760"/>
          </a:xfrm>
          <a:prstGeom prst="rect">
            <a:avLst/>
          </a:prstGeom>
          <a:noFill/>
        </p:spPr>
        <p:txBody>
          <a:bodyPr wrap="square" anchor="t">
            <a:spAutoFit/>
          </a:bodyPr>
          <a:lstStyle/>
          <a:p>
            <a:pPr algn="l"/>
            <a:r>
              <a:rPr sz="1600" b="1" i="0">
                <a:solidFill>
                  <a:srgbClr val="1F4E79"/>
                </a:solidFill>
                <a:latin typeface="Tahoma"/>
              </a:rPr>
              <a:t>การวัดผลสัปดาห์นี้</a:t>
            </a:r>
          </a:p>
        </p:txBody>
      </p:sp>
      <p:sp>
        <p:nvSpPr>
          <p:cNvPr id="8" name="TextBox 7"/>
          <p:cNvSpPr txBox="1"/>
          <p:nvPr/>
        </p:nvSpPr>
        <p:spPr>
          <a:xfrm>
            <a:off x="640080" y="5349240"/>
            <a:ext cx="10972800" cy="365760"/>
          </a:xfrm>
          <a:prstGeom prst="rect">
            <a:avLst/>
          </a:prstGeom>
          <a:noFill/>
        </p:spPr>
        <p:txBody>
          <a:bodyPr wrap="square" anchor="t">
            <a:spAutoFit/>
          </a:bodyPr>
          <a:lstStyle/>
          <a:p>
            <a:pPr algn="l"/>
            <a:r>
              <a:rPr sz="1400" b="0" i="0">
                <a:solidFill>
                  <a:srgbClr val="1F1F1F"/>
                </a:solidFill>
                <a:latin typeface="Tahoma"/>
              </a:rPr>
              <a:t>  • Post-quiz (ท้ายคาบ)  1.5%  · 5 MCQ + 3 reflection · ESP Ch.1 + PP Ch.1</a:t>
            </a:r>
          </a:p>
        </p:txBody>
      </p:sp>
      <p:sp>
        <p:nvSpPr>
          <p:cNvPr id="9" name="TextBox 8"/>
          <p:cNvSpPr txBox="1"/>
          <p:nvPr/>
        </p:nvSpPr>
        <p:spPr>
          <a:xfrm>
            <a:off x="640080" y="5715000"/>
            <a:ext cx="10972800" cy="365760"/>
          </a:xfrm>
          <a:prstGeom prst="rect">
            <a:avLst/>
          </a:prstGeom>
          <a:noFill/>
        </p:spPr>
        <p:txBody>
          <a:bodyPr wrap="square" anchor="t">
            <a:spAutoFit/>
          </a:bodyPr>
          <a:lstStyle/>
          <a:p>
            <a:pPr algn="l"/>
            <a:r>
              <a:rPr sz="1400" b="0" i="0">
                <a:solidFill>
                  <a:srgbClr val="1F1F1F"/>
                </a:solidFill>
                <a:latin typeface="Tahoma"/>
              </a:rPr>
              <a:t>  • Lab 1 (ปลายคาบ)  1.75%  · First Pragmatic Commit</a:t>
            </a:r>
          </a:p>
        </p:txBody>
      </p:sp>
      <p:sp>
        <p:nvSpPr>
          <p:cNvPr id="10" name="TextBox 9"/>
          <p:cNvSpPr txBox="1"/>
          <p:nvPr/>
        </p:nvSpPr>
        <p:spPr>
          <a:xfrm>
            <a:off x="640080" y="6080760"/>
            <a:ext cx="4572000" cy="365760"/>
          </a:xfrm>
          <a:prstGeom prst="rect">
            <a:avLst/>
          </a:prstGeom>
          <a:noFill/>
        </p:spPr>
        <p:txBody>
          <a:bodyPr wrap="square" anchor="t">
            <a:spAutoFit/>
          </a:bodyPr>
          <a:lstStyle/>
          <a:p>
            <a:pPr algn="l"/>
            <a:r>
              <a:rPr sz="1400" b="1" i="0">
                <a:solidFill>
                  <a:srgbClr val="C00000"/>
                </a:solidFill>
                <a:latin typeface="Tahoma"/>
              </a:rPr>
              <a:t>  • รวม  3.25%</a:t>
            </a:r>
          </a:p>
        </p:txBody>
      </p:sp>
      <p:sp>
        <p:nvSpPr>
          <p:cNvPr id="11" name="TextBox 10"/>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12" name="TextBox 11"/>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Software Engineering คืออะไร?</a:t>
            </a:r>
          </a:p>
        </p:txBody>
      </p:sp>
      <p:sp>
        <p:nvSpPr>
          <p:cNvPr id="3" name="Rectangle 2"/>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72800" cy="365760"/>
          </a:xfrm>
          <a:prstGeom prst="rect">
            <a:avLst/>
          </a:prstGeom>
          <a:noFill/>
        </p:spPr>
        <p:txBody>
          <a:bodyPr wrap="square" anchor="t">
            <a:spAutoFit/>
          </a:bodyPr>
          <a:lstStyle/>
          <a:p>
            <a:pPr algn="l"/>
            <a:r>
              <a:rPr sz="1500" b="0" i="1">
                <a:solidFill>
                  <a:srgbClr val="595959"/>
                </a:solidFill>
                <a:latin typeface="Tahoma"/>
              </a:rPr>
              <a:t>นิยามจาก Ian Sommerville (2019)</a:t>
            </a:r>
          </a:p>
        </p:txBody>
      </p:sp>
      <p:sp>
        <p:nvSpPr>
          <p:cNvPr id="5" name="Rounded Rectangle 4"/>
          <p:cNvSpPr/>
          <p:nvPr/>
        </p:nvSpPr>
        <p:spPr>
          <a:xfrm>
            <a:off x="914400" y="1828800"/>
            <a:ext cx="10332720" cy="1280160"/>
          </a:xfrm>
          <a:prstGeom prst="roundRect">
            <a:avLst/>
          </a:prstGeom>
          <a:solidFill>
            <a:srgbClr val="D9E2F3"/>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800" i="1" b="0">
                <a:solidFill>
                  <a:srgbClr val="1F1F1F"/>
                </a:solidFill>
                <a:latin typeface="Tahoma"/>
              </a:rPr>
              <a:t>"Software engineering is an engineering discipline that is concerned with all aspects of software production, from the early stages of system specification through to maintaining the system after it has gone into use."</a:t>
            </a:r>
          </a:p>
        </p:txBody>
      </p:sp>
      <p:sp>
        <p:nvSpPr>
          <p:cNvPr id="6" name="TextBox 5"/>
          <p:cNvSpPr txBox="1"/>
          <p:nvPr/>
        </p:nvSpPr>
        <p:spPr>
          <a:xfrm>
            <a:off x="640080" y="3383280"/>
            <a:ext cx="10972800" cy="457200"/>
          </a:xfrm>
          <a:prstGeom prst="rect">
            <a:avLst/>
          </a:prstGeom>
          <a:noFill/>
        </p:spPr>
        <p:txBody>
          <a:bodyPr wrap="square" anchor="t">
            <a:spAutoFit/>
          </a:bodyPr>
          <a:lstStyle/>
          <a:p>
            <a:pPr algn="l"/>
            <a:r>
              <a:rPr sz="2200" b="1" i="0">
                <a:solidFill>
                  <a:srgbClr val="1F4E79"/>
                </a:solidFill>
                <a:latin typeface="Tahoma"/>
              </a:rPr>
              <a:t>Engineering ≠ Coding</a:t>
            </a:r>
          </a:p>
        </p:txBody>
      </p:sp>
      <p:sp>
        <p:nvSpPr>
          <p:cNvPr id="7" name="TextBox 6"/>
          <p:cNvSpPr txBox="1"/>
          <p:nvPr/>
        </p:nvSpPr>
        <p:spPr>
          <a:xfrm>
            <a:off x="640080" y="3840480"/>
            <a:ext cx="10972800" cy="4572000"/>
          </a:xfrm>
          <a:prstGeom prst="rect">
            <a:avLst/>
          </a:prstGeom>
          <a:noFill/>
        </p:spPr>
        <p:txBody>
          <a:bodyPr wrap="square">
            <a:spAutoFit/>
          </a:bodyPr>
          <a:lstStyle/>
          <a:p>
            <a:pPr>
              <a:spcAft>
                <a:spcPts val="1000"/>
              </a:spcAft>
            </a:pPr>
            <a:r>
              <a:rPr sz="2000" b="0">
                <a:solidFill>
                  <a:srgbClr val="1F1F1F"/>
                </a:solidFill>
                <a:latin typeface="Tahoma"/>
              </a:rPr>
              <a:t>• Coding = เขียนโค้ดให้ทำงานได้</a:t>
            </a:r>
          </a:p>
          <a:p>
            <a:pPr>
              <a:spcAft>
                <a:spcPts val="1000"/>
              </a:spcAft>
            </a:pPr>
            <a:r>
              <a:rPr sz="2000" b="0">
                <a:solidFill>
                  <a:srgbClr val="1F1F1F"/>
                </a:solidFill>
                <a:latin typeface="Tahoma"/>
              </a:rPr>
              <a:t>• Engineering = ออกแบบ + ทดสอบ + ส่งมอบ + บำรุงรักษา + ประเมินคุณภาพ + จัดการทีม + สื่อสาร</a:t>
            </a:r>
          </a:p>
          <a:p>
            <a:pPr>
              <a:spcAft>
                <a:spcPts val="1000"/>
              </a:spcAft>
            </a:pPr>
            <a:r>
              <a:rPr sz="2000" b="0">
                <a:solidFill>
                  <a:srgbClr val="1F1F1F"/>
                </a:solidFill>
                <a:latin typeface="Tahoma"/>
              </a:rPr>
              <a:t>• ครอบคลุมทั้ง technical practices และ process practices ตลอดอายุขัยของซอฟต์แวร์</a:t>
            </a:r>
          </a:p>
        </p:txBody>
      </p:sp>
      <p:sp>
        <p:nvSpPr>
          <p:cNvPr id="8" name="TextBox 7"/>
          <p:cNvSpPr txBox="1"/>
          <p:nvPr/>
        </p:nvSpPr>
        <p:spPr>
          <a:xfrm>
            <a:off x="640080" y="5943600"/>
            <a:ext cx="10972800" cy="365760"/>
          </a:xfrm>
          <a:prstGeom prst="rect">
            <a:avLst/>
          </a:prstGeom>
          <a:noFill/>
        </p:spPr>
        <p:txBody>
          <a:bodyPr wrap="square" anchor="t">
            <a:spAutoFit/>
          </a:bodyPr>
          <a:lstStyle/>
          <a:p>
            <a:pPr algn="l"/>
            <a:r>
              <a:rPr sz="1500" b="1" i="1">
                <a:solidFill>
                  <a:srgbClr val="BF9000"/>
                </a:solidFill>
                <a:latin typeface="Tahoma"/>
              </a:rPr>
              <a:t>ในชีวิตจริง: Slack, Spotify, LINE, My Grab — เป็น Product ที่ต้องดูแลต่อเนื่อง</a:t>
            </a:r>
          </a:p>
        </p:txBody>
      </p:sp>
      <p:sp>
        <p:nvSpPr>
          <p:cNvPr id="9" name="TextBox 8"/>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10" name="TextBox 9"/>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แผนที่ 15 สัปดาห์</a:t>
            </a:r>
          </a:p>
        </p:txBody>
      </p:sp>
      <p:sp>
        <p:nvSpPr>
          <p:cNvPr id="3" name="TextBox 2"/>
          <p:cNvSpPr txBox="1"/>
          <p:nvPr/>
        </p:nvSpPr>
        <p:spPr>
          <a:xfrm>
            <a:off x="457200" y="868680"/>
            <a:ext cx="11247120" cy="365760"/>
          </a:xfrm>
          <a:prstGeom prst="rect">
            <a:avLst/>
          </a:prstGeom>
          <a:noFill/>
        </p:spPr>
        <p:txBody>
          <a:bodyPr wrap="square" anchor="t">
            <a:spAutoFit/>
          </a:bodyPr>
          <a:lstStyle/>
          <a:p>
            <a:pPr algn="l"/>
            <a:r>
              <a:rPr sz="1600" b="0" i="1">
                <a:solidFill>
                  <a:srgbClr val="595959"/>
                </a:solidFill>
                <a:latin typeface="Tahoma"/>
              </a:rPr>
              <a:t>Course Roadmap</a:t>
            </a:r>
          </a:p>
        </p:txBody>
      </p:sp>
      <p:sp>
        <p:nvSpPr>
          <p:cNvPr id="4" name="Rectangle 3"/>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554480"/>
            <a:ext cx="2194560" cy="13716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645920"/>
            <a:ext cx="2194560" cy="548640"/>
          </a:xfrm>
          <a:prstGeom prst="rect">
            <a:avLst/>
          </a:prstGeom>
          <a:noFill/>
        </p:spPr>
        <p:txBody>
          <a:bodyPr wrap="square" anchor="t">
            <a:spAutoFit/>
          </a:bodyPr>
          <a:lstStyle/>
          <a:p>
            <a:pPr algn="ctr"/>
            <a:r>
              <a:rPr sz="2200" b="1" i="0">
                <a:solidFill>
                  <a:srgbClr val="FFFFFF"/>
                </a:solidFill>
                <a:latin typeface="Tahoma"/>
              </a:rPr>
              <a:t>W1</a:t>
            </a:r>
          </a:p>
        </p:txBody>
      </p:sp>
      <p:sp>
        <p:nvSpPr>
          <p:cNvPr id="7" name="TextBox 6"/>
          <p:cNvSpPr txBox="1"/>
          <p:nvPr/>
        </p:nvSpPr>
        <p:spPr>
          <a:xfrm>
            <a:off x="365760" y="2240280"/>
            <a:ext cx="2194560" cy="548640"/>
          </a:xfrm>
          <a:prstGeom prst="rect">
            <a:avLst/>
          </a:prstGeom>
          <a:noFill/>
        </p:spPr>
        <p:txBody>
          <a:bodyPr wrap="square" anchor="t">
            <a:spAutoFit/>
          </a:bodyPr>
          <a:lstStyle/>
          <a:p>
            <a:pPr algn="ctr"/>
            <a:r>
              <a:rPr sz="1200" b="1" i="0">
                <a:solidFill>
                  <a:srgbClr val="FFFFFF"/>
                </a:solidFill>
                <a:latin typeface="Tahoma"/>
              </a:rPr>
              <a:t>Intro + Pragmatic</a:t>
            </a:r>
          </a:p>
        </p:txBody>
      </p:sp>
      <p:sp>
        <p:nvSpPr>
          <p:cNvPr id="8" name="Rounded Rectangle 7"/>
          <p:cNvSpPr/>
          <p:nvPr/>
        </p:nvSpPr>
        <p:spPr>
          <a:xfrm>
            <a:off x="2606039" y="1554480"/>
            <a:ext cx="2194560" cy="13716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06039" y="1645920"/>
            <a:ext cx="2194560" cy="548640"/>
          </a:xfrm>
          <a:prstGeom prst="rect">
            <a:avLst/>
          </a:prstGeom>
          <a:noFill/>
        </p:spPr>
        <p:txBody>
          <a:bodyPr wrap="square" anchor="t">
            <a:spAutoFit/>
          </a:bodyPr>
          <a:lstStyle/>
          <a:p>
            <a:pPr algn="ctr"/>
            <a:r>
              <a:rPr sz="2200" b="1" i="0">
                <a:solidFill>
                  <a:srgbClr val="FFFFFF"/>
                </a:solidFill>
                <a:latin typeface="Tahoma"/>
              </a:rPr>
              <a:t>W2</a:t>
            </a:r>
          </a:p>
        </p:txBody>
      </p:sp>
      <p:sp>
        <p:nvSpPr>
          <p:cNvPr id="10" name="TextBox 9"/>
          <p:cNvSpPr txBox="1"/>
          <p:nvPr/>
        </p:nvSpPr>
        <p:spPr>
          <a:xfrm>
            <a:off x="2606039" y="2240280"/>
            <a:ext cx="2194560" cy="548640"/>
          </a:xfrm>
          <a:prstGeom prst="rect">
            <a:avLst/>
          </a:prstGeom>
          <a:noFill/>
        </p:spPr>
        <p:txBody>
          <a:bodyPr wrap="square" anchor="t">
            <a:spAutoFit/>
          </a:bodyPr>
          <a:lstStyle/>
          <a:p>
            <a:pPr algn="ctr"/>
            <a:r>
              <a:rPr sz="1200" b="1" i="0">
                <a:solidFill>
                  <a:srgbClr val="FFFFFF"/>
                </a:solidFill>
                <a:latin typeface="Tahoma"/>
              </a:rPr>
              <a:t>Agile</a:t>
            </a:r>
          </a:p>
        </p:txBody>
      </p:sp>
      <p:sp>
        <p:nvSpPr>
          <p:cNvPr id="11" name="Rounded Rectangle 10"/>
          <p:cNvSpPr/>
          <p:nvPr/>
        </p:nvSpPr>
        <p:spPr>
          <a:xfrm>
            <a:off x="4846320" y="1554480"/>
            <a:ext cx="2194560" cy="13716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0" y="1645920"/>
            <a:ext cx="2194560" cy="548640"/>
          </a:xfrm>
          <a:prstGeom prst="rect">
            <a:avLst/>
          </a:prstGeom>
          <a:noFill/>
        </p:spPr>
        <p:txBody>
          <a:bodyPr wrap="square" anchor="t">
            <a:spAutoFit/>
          </a:bodyPr>
          <a:lstStyle/>
          <a:p>
            <a:pPr algn="ctr"/>
            <a:r>
              <a:rPr sz="2200" b="1" i="0">
                <a:solidFill>
                  <a:srgbClr val="FFFFFF"/>
                </a:solidFill>
                <a:latin typeface="Tahoma"/>
              </a:rPr>
              <a:t>W3</a:t>
            </a:r>
          </a:p>
        </p:txBody>
      </p:sp>
      <p:sp>
        <p:nvSpPr>
          <p:cNvPr id="13" name="TextBox 12"/>
          <p:cNvSpPr txBox="1"/>
          <p:nvPr/>
        </p:nvSpPr>
        <p:spPr>
          <a:xfrm>
            <a:off x="4846320" y="2240280"/>
            <a:ext cx="2194560" cy="548640"/>
          </a:xfrm>
          <a:prstGeom prst="rect">
            <a:avLst/>
          </a:prstGeom>
          <a:noFill/>
        </p:spPr>
        <p:txBody>
          <a:bodyPr wrap="square" anchor="t">
            <a:spAutoFit/>
          </a:bodyPr>
          <a:lstStyle/>
          <a:p>
            <a:pPr algn="ctr"/>
            <a:r>
              <a:rPr sz="1200" b="1" i="0">
                <a:solidFill>
                  <a:srgbClr val="FFFFFF"/>
                </a:solidFill>
                <a:latin typeface="Tahoma"/>
              </a:rPr>
              <a:t>Requirements</a:t>
            </a:r>
          </a:p>
        </p:txBody>
      </p:sp>
      <p:sp>
        <p:nvSpPr>
          <p:cNvPr id="14" name="Rounded Rectangle 13"/>
          <p:cNvSpPr/>
          <p:nvPr/>
        </p:nvSpPr>
        <p:spPr>
          <a:xfrm>
            <a:off x="7086600" y="1554480"/>
            <a:ext cx="2194560" cy="13716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1645920"/>
            <a:ext cx="2194560" cy="548640"/>
          </a:xfrm>
          <a:prstGeom prst="rect">
            <a:avLst/>
          </a:prstGeom>
          <a:noFill/>
        </p:spPr>
        <p:txBody>
          <a:bodyPr wrap="square" anchor="t">
            <a:spAutoFit/>
          </a:bodyPr>
          <a:lstStyle/>
          <a:p>
            <a:pPr algn="ctr"/>
            <a:r>
              <a:rPr sz="2200" b="1" i="0">
                <a:solidFill>
                  <a:srgbClr val="FFFFFF"/>
                </a:solidFill>
                <a:latin typeface="Tahoma"/>
              </a:rPr>
              <a:t>W4</a:t>
            </a:r>
          </a:p>
        </p:txBody>
      </p:sp>
      <p:sp>
        <p:nvSpPr>
          <p:cNvPr id="16" name="TextBox 15"/>
          <p:cNvSpPr txBox="1"/>
          <p:nvPr/>
        </p:nvSpPr>
        <p:spPr>
          <a:xfrm>
            <a:off x="7086600" y="2240280"/>
            <a:ext cx="2194560" cy="548640"/>
          </a:xfrm>
          <a:prstGeom prst="rect">
            <a:avLst/>
          </a:prstGeom>
          <a:noFill/>
        </p:spPr>
        <p:txBody>
          <a:bodyPr wrap="square" anchor="t">
            <a:spAutoFit/>
          </a:bodyPr>
          <a:lstStyle/>
          <a:p>
            <a:pPr algn="ctr"/>
            <a:r>
              <a:rPr sz="1200" b="1" i="0">
                <a:solidFill>
                  <a:srgbClr val="FFFFFF"/>
                </a:solidFill>
                <a:latin typeface="Tahoma"/>
              </a:rPr>
              <a:t>AI Prototyping</a:t>
            </a:r>
          </a:p>
        </p:txBody>
      </p:sp>
      <p:sp>
        <p:nvSpPr>
          <p:cNvPr id="17" name="Rounded Rectangle 16"/>
          <p:cNvSpPr/>
          <p:nvPr/>
        </p:nvSpPr>
        <p:spPr>
          <a:xfrm>
            <a:off x="9326880" y="1554480"/>
            <a:ext cx="2194560" cy="13716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0" y="1645920"/>
            <a:ext cx="2194560" cy="548640"/>
          </a:xfrm>
          <a:prstGeom prst="rect">
            <a:avLst/>
          </a:prstGeom>
          <a:noFill/>
        </p:spPr>
        <p:txBody>
          <a:bodyPr wrap="square" anchor="t">
            <a:spAutoFit/>
          </a:bodyPr>
          <a:lstStyle/>
          <a:p>
            <a:pPr algn="ctr"/>
            <a:r>
              <a:rPr sz="2200" b="1" i="0">
                <a:solidFill>
                  <a:srgbClr val="FFFFFF"/>
                </a:solidFill>
                <a:latin typeface="Tahoma"/>
              </a:rPr>
              <a:t>W5</a:t>
            </a:r>
          </a:p>
        </p:txBody>
      </p:sp>
      <p:sp>
        <p:nvSpPr>
          <p:cNvPr id="19" name="TextBox 18"/>
          <p:cNvSpPr txBox="1"/>
          <p:nvPr/>
        </p:nvSpPr>
        <p:spPr>
          <a:xfrm>
            <a:off x="9326880" y="2240280"/>
            <a:ext cx="2194560" cy="548640"/>
          </a:xfrm>
          <a:prstGeom prst="rect">
            <a:avLst/>
          </a:prstGeom>
          <a:noFill/>
        </p:spPr>
        <p:txBody>
          <a:bodyPr wrap="square" anchor="t">
            <a:spAutoFit/>
          </a:bodyPr>
          <a:lstStyle/>
          <a:p>
            <a:pPr algn="ctr"/>
            <a:r>
              <a:rPr sz="1200" b="1" i="0">
                <a:solidFill>
                  <a:srgbClr val="FFFFFF"/>
                </a:solidFill>
                <a:latin typeface="Tahoma"/>
              </a:rPr>
              <a:t>Architecture</a:t>
            </a:r>
          </a:p>
        </p:txBody>
      </p:sp>
      <p:sp>
        <p:nvSpPr>
          <p:cNvPr id="20" name="Rounded Rectangle 19"/>
          <p:cNvSpPr/>
          <p:nvPr/>
        </p:nvSpPr>
        <p:spPr>
          <a:xfrm>
            <a:off x="365760" y="3063239"/>
            <a:ext cx="2194560" cy="13716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154679"/>
            <a:ext cx="2194560" cy="548640"/>
          </a:xfrm>
          <a:prstGeom prst="rect">
            <a:avLst/>
          </a:prstGeom>
          <a:noFill/>
        </p:spPr>
        <p:txBody>
          <a:bodyPr wrap="square" anchor="t">
            <a:spAutoFit/>
          </a:bodyPr>
          <a:lstStyle/>
          <a:p>
            <a:pPr algn="ctr"/>
            <a:r>
              <a:rPr sz="2200" b="1" i="0">
                <a:solidFill>
                  <a:srgbClr val="FFFFFF"/>
                </a:solidFill>
                <a:latin typeface="Tahoma"/>
              </a:rPr>
              <a:t>W6</a:t>
            </a:r>
          </a:p>
        </p:txBody>
      </p:sp>
      <p:sp>
        <p:nvSpPr>
          <p:cNvPr id="22" name="TextBox 21"/>
          <p:cNvSpPr txBox="1"/>
          <p:nvPr/>
        </p:nvSpPr>
        <p:spPr>
          <a:xfrm>
            <a:off x="365760" y="3749039"/>
            <a:ext cx="2194560" cy="548640"/>
          </a:xfrm>
          <a:prstGeom prst="rect">
            <a:avLst/>
          </a:prstGeom>
          <a:noFill/>
        </p:spPr>
        <p:txBody>
          <a:bodyPr wrap="square" anchor="t">
            <a:spAutoFit/>
          </a:bodyPr>
          <a:lstStyle/>
          <a:p>
            <a:pPr algn="ctr"/>
            <a:r>
              <a:rPr sz="1200" b="1" i="0">
                <a:solidFill>
                  <a:srgbClr val="FFFFFF"/>
                </a:solidFill>
                <a:latin typeface="Tahoma"/>
              </a:rPr>
              <a:t>Cloud/Microservices</a:t>
            </a:r>
          </a:p>
        </p:txBody>
      </p:sp>
      <p:sp>
        <p:nvSpPr>
          <p:cNvPr id="23" name="Rounded Rectangle 22"/>
          <p:cNvSpPr/>
          <p:nvPr/>
        </p:nvSpPr>
        <p:spPr>
          <a:xfrm>
            <a:off x="2606039" y="3063239"/>
            <a:ext cx="2194560" cy="13716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06039" y="3154679"/>
            <a:ext cx="2194560" cy="548640"/>
          </a:xfrm>
          <a:prstGeom prst="rect">
            <a:avLst/>
          </a:prstGeom>
          <a:noFill/>
        </p:spPr>
        <p:txBody>
          <a:bodyPr wrap="square" anchor="t">
            <a:spAutoFit/>
          </a:bodyPr>
          <a:lstStyle/>
          <a:p>
            <a:pPr algn="ctr"/>
            <a:r>
              <a:rPr sz="2200" b="1" i="0">
                <a:solidFill>
                  <a:srgbClr val="FFFFFF"/>
                </a:solidFill>
                <a:latin typeface="Tahoma"/>
              </a:rPr>
              <a:t>W7</a:t>
            </a:r>
          </a:p>
        </p:txBody>
      </p:sp>
      <p:sp>
        <p:nvSpPr>
          <p:cNvPr id="25" name="TextBox 24"/>
          <p:cNvSpPr txBox="1"/>
          <p:nvPr/>
        </p:nvSpPr>
        <p:spPr>
          <a:xfrm>
            <a:off x="2606039" y="3749039"/>
            <a:ext cx="2194560" cy="548640"/>
          </a:xfrm>
          <a:prstGeom prst="rect">
            <a:avLst/>
          </a:prstGeom>
          <a:noFill/>
        </p:spPr>
        <p:txBody>
          <a:bodyPr wrap="square" anchor="t">
            <a:spAutoFit/>
          </a:bodyPr>
          <a:lstStyle/>
          <a:p>
            <a:pPr algn="ctr"/>
            <a:r>
              <a:rPr sz="1200" b="1" i="0">
                <a:solidFill>
                  <a:srgbClr val="FFFFFF"/>
                </a:solidFill>
                <a:latin typeface="Tahoma"/>
              </a:rPr>
              <a:t>Clean Code</a:t>
            </a:r>
          </a:p>
        </p:txBody>
      </p:sp>
      <p:sp>
        <p:nvSpPr>
          <p:cNvPr id="26" name="Rounded Rectangle 25"/>
          <p:cNvSpPr/>
          <p:nvPr/>
        </p:nvSpPr>
        <p:spPr>
          <a:xfrm>
            <a:off x="4846320" y="3063239"/>
            <a:ext cx="2194560" cy="1371600"/>
          </a:xfrm>
          <a:prstGeom prst="roundRect">
            <a:avLst/>
          </a:prstGeom>
          <a:solidFill>
            <a:srgbClr val="BF9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6320" y="3154679"/>
            <a:ext cx="2194560" cy="548640"/>
          </a:xfrm>
          <a:prstGeom prst="rect">
            <a:avLst/>
          </a:prstGeom>
          <a:noFill/>
        </p:spPr>
        <p:txBody>
          <a:bodyPr wrap="square" anchor="t">
            <a:spAutoFit/>
          </a:bodyPr>
          <a:lstStyle/>
          <a:p>
            <a:pPr algn="ctr"/>
            <a:r>
              <a:rPr sz="2200" b="1" i="0">
                <a:solidFill>
                  <a:srgbClr val="FFFFFF"/>
                </a:solidFill>
                <a:latin typeface="Tahoma"/>
              </a:rPr>
              <a:t>W8</a:t>
            </a:r>
          </a:p>
        </p:txBody>
      </p:sp>
      <p:sp>
        <p:nvSpPr>
          <p:cNvPr id="28" name="TextBox 27"/>
          <p:cNvSpPr txBox="1"/>
          <p:nvPr/>
        </p:nvSpPr>
        <p:spPr>
          <a:xfrm>
            <a:off x="4846320" y="3749039"/>
            <a:ext cx="2194560" cy="548640"/>
          </a:xfrm>
          <a:prstGeom prst="rect">
            <a:avLst/>
          </a:prstGeom>
          <a:noFill/>
        </p:spPr>
        <p:txBody>
          <a:bodyPr wrap="square" anchor="t">
            <a:spAutoFit/>
          </a:bodyPr>
          <a:lstStyle/>
          <a:p>
            <a:pPr algn="ctr"/>
            <a:r>
              <a:rPr sz="1200" b="1" i="0">
                <a:solidFill>
                  <a:srgbClr val="FFFFFF"/>
                </a:solidFill>
                <a:latin typeface="Tahoma"/>
              </a:rPr>
              <a:t>Midterm Review</a:t>
            </a:r>
          </a:p>
        </p:txBody>
      </p:sp>
      <p:sp>
        <p:nvSpPr>
          <p:cNvPr id="29" name="Rounded Rectangle 28"/>
          <p:cNvSpPr/>
          <p:nvPr/>
        </p:nvSpPr>
        <p:spPr>
          <a:xfrm>
            <a:off x="7086600" y="3063239"/>
            <a:ext cx="2194560" cy="137160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6600" y="3154679"/>
            <a:ext cx="2194560" cy="548640"/>
          </a:xfrm>
          <a:prstGeom prst="rect">
            <a:avLst/>
          </a:prstGeom>
          <a:noFill/>
        </p:spPr>
        <p:txBody>
          <a:bodyPr wrap="square" anchor="t">
            <a:spAutoFit/>
          </a:bodyPr>
          <a:lstStyle/>
          <a:p>
            <a:pPr algn="ctr"/>
            <a:r>
              <a:rPr sz="2200" b="1" i="0">
                <a:solidFill>
                  <a:srgbClr val="FFFFFF"/>
                </a:solidFill>
                <a:latin typeface="Tahoma"/>
              </a:rPr>
              <a:t>W9</a:t>
            </a:r>
          </a:p>
        </p:txBody>
      </p:sp>
      <p:sp>
        <p:nvSpPr>
          <p:cNvPr id="31" name="TextBox 30"/>
          <p:cNvSpPr txBox="1"/>
          <p:nvPr/>
        </p:nvSpPr>
        <p:spPr>
          <a:xfrm>
            <a:off x="7086600" y="3749039"/>
            <a:ext cx="2194560" cy="548640"/>
          </a:xfrm>
          <a:prstGeom prst="rect">
            <a:avLst/>
          </a:prstGeom>
          <a:noFill/>
        </p:spPr>
        <p:txBody>
          <a:bodyPr wrap="square" anchor="t">
            <a:spAutoFit/>
          </a:bodyPr>
          <a:lstStyle/>
          <a:p>
            <a:pPr algn="ctr"/>
            <a:r>
              <a:rPr sz="1200" b="1" i="0">
                <a:solidFill>
                  <a:srgbClr val="FFFFFF"/>
                </a:solidFill>
                <a:latin typeface="Tahoma"/>
              </a:rPr>
              <a:t>Testing</a:t>
            </a:r>
          </a:p>
        </p:txBody>
      </p:sp>
      <p:sp>
        <p:nvSpPr>
          <p:cNvPr id="32" name="Rounded Rectangle 31"/>
          <p:cNvSpPr/>
          <p:nvPr/>
        </p:nvSpPr>
        <p:spPr>
          <a:xfrm>
            <a:off x="9326880" y="3063239"/>
            <a:ext cx="2194560" cy="137160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0" y="3154679"/>
            <a:ext cx="2194560" cy="548640"/>
          </a:xfrm>
          <a:prstGeom prst="rect">
            <a:avLst/>
          </a:prstGeom>
          <a:noFill/>
        </p:spPr>
        <p:txBody>
          <a:bodyPr wrap="square" anchor="t">
            <a:spAutoFit/>
          </a:bodyPr>
          <a:lstStyle/>
          <a:p>
            <a:pPr algn="ctr"/>
            <a:r>
              <a:rPr sz="2200" b="1" i="0">
                <a:solidFill>
                  <a:srgbClr val="FFFFFF"/>
                </a:solidFill>
                <a:latin typeface="Tahoma"/>
              </a:rPr>
              <a:t>W10</a:t>
            </a:r>
          </a:p>
        </p:txBody>
      </p:sp>
      <p:sp>
        <p:nvSpPr>
          <p:cNvPr id="34" name="TextBox 33"/>
          <p:cNvSpPr txBox="1"/>
          <p:nvPr/>
        </p:nvSpPr>
        <p:spPr>
          <a:xfrm>
            <a:off x="9326880" y="3749039"/>
            <a:ext cx="2194560" cy="548640"/>
          </a:xfrm>
          <a:prstGeom prst="rect">
            <a:avLst/>
          </a:prstGeom>
          <a:noFill/>
        </p:spPr>
        <p:txBody>
          <a:bodyPr wrap="square" anchor="t">
            <a:spAutoFit/>
          </a:bodyPr>
          <a:lstStyle/>
          <a:p>
            <a:pPr algn="ctr"/>
            <a:r>
              <a:rPr sz="1200" b="1" i="0">
                <a:solidFill>
                  <a:srgbClr val="FFFFFF"/>
                </a:solidFill>
                <a:latin typeface="Tahoma"/>
              </a:rPr>
              <a:t>DevOps</a:t>
            </a:r>
          </a:p>
        </p:txBody>
      </p:sp>
      <p:sp>
        <p:nvSpPr>
          <p:cNvPr id="35" name="Rounded Rectangle 34"/>
          <p:cNvSpPr/>
          <p:nvPr/>
        </p:nvSpPr>
        <p:spPr>
          <a:xfrm>
            <a:off x="365760" y="4572000"/>
            <a:ext cx="2194560" cy="137160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4663440"/>
            <a:ext cx="2194560" cy="548640"/>
          </a:xfrm>
          <a:prstGeom prst="rect">
            <a:avLst/>
          </a:prstGeom>
          <a:noFill/>
        </p:spPr>
        <p:txBody>
          <a:bodyPr wrap="square" anchor="t">
            <a:spAutoFit/>
          </a:bodyPr>
          <a:lstStyle/>
          <a:p>
            <a:pPr algn="ctr"/>
            <a:r>
              <a:rPr sz="2200" b="1" i="0">
                <a:solidFill>
                  <a:srgbClr val="FFFFFF"/>
                </a:solidFill>
                <a:latin typeface="Tahoma"/>
              </a:rPr>
              <a:t>W11</a:t>
            </a:r>
          </a:p>
        </p:txBody>
      </p:sp>
      <p:sp>
        <p:nvSpPr>
          <p:cNvPr id="37" name="TextBox 36"/>
          <p:cNvSpPr txBox="1"/>
          <p:nvPr/>
        </p:nvSpPr>
        <p:spPr>
          <a:xfrm>
            <a:off x="365760" y="5257800"/>
            <a:ext cx="2194560" cy="548640"/>
          </a:xfrm>
          <a:prstGeom prst="rect">
            <a:avLst/>
          </a:prstGeom>
          <a:noFill/>
        </p:spPr>
        <p:txBody>
          <a:bodyPr wrap="square" anchor="t">
            <a:spAutoFit/>
          </a:bodyPr>
          <a:lstStyle/>
          <a:p>
            <a:pPr algn="ctr"/>
            <a:r>
              <a:rPr sz="1200" b="1" i="0">
                <a:solidFill>
                  <a:srgbClr val="FFFFFF"/>
                </a:solidFill>
                <a:latin typeface="Tahoma"/>
              </a:rPr>
              <a:t>Security</a:t>
            </a:r>
          </a:p>
        </p:txBody>
      </p:sp>
      <p:sp>
        <p:nvSpPr>
          <p:cNvPr id="38" name="Rounded Rectangle 37"/>
          <p:cNvSpPr/>
          <p:nvPr/>
        </p:nvSpPr>
        <p:spPr>
          <a:xfrm>
            <a:off x="2606039" y="4572000"/>
            <a:ext cx="2194560" cy="137160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06039" y="4663440"/>
            <a:ext cx="2194560" cy="548640"/>
          </a:xfrm>
          <a:prstGeom prst="rect">
            <a:avLst/>
          </a:prstGeom>
          <a:noFill/>
        </p:spPr>
        <p:txBody>
          <a:bodyPr wrap="square" anchor="t">
            <a:spAutoFit/>
          </a:bodyPr>
          <a:lstStyle/>
          <a:p>
            <a:pPr algn="ctr"/>
            <a:r>
              <a:rPr sz="2200" b="1" i="0">
                <a:solidFill>
                  <a:srgbClr val="FFFFFF"/>
                </a:solidFill>
                <a:latin typeface="Tahoma"/>
              </a:rPr>
              <a:t>W12</a:t>
            </a:r>
          </a:p>
        </p:txBody>
      </p:sp>
      <p:sp>
        <p:nvSpPr>
          <p:cNvPr id="40" name="TextBox 39"/>
          <p:cNvSpPr txBox="1"/>
          <p:nvPr/>
        </p:nvSpPr>
        <p:spPr>
          <a:xfrm>
            <a:off x="2606039" y="5257800"/>
            <a:ext cx="2194560" cy="548640"/>
          </a:xfrm>
          <a:prstGeom prst="rect">
            <a:avLst/>
          </a:prstGeom>
          <a:noFill/>
        </p:spPr>
        <p:txBody>
          <a:bodyPr wrap="square" anchor="t">
            <a:spAutoFit/>
          </a:bodyPr>
          <a:lstStyle/>
          <a:p>
            <a:pPr algn="ctr"/>
            <a:r>
              <a:rPr sz="1200" b="1" i="0">
                <a:solidFill>
                  <a:srgbClr val="FFFFFF"/>
                </a:solidFill>
                <a:latin typeface="Tahoma"/>
              </a:rPr>
              <a:t>Refactoring</a:t>
            </a:r>
          </a:p>
        </p:txBody>
      </p:sp>
      <p:sp>
        <p:nvSpPr>
          <p:cNvPr id="41" name="Rounded Rectangle 40"/>
          <p:cNvSpPr/>
          <p:nvPr/>
        </p:nvSpPr>
        <p:spPr>
          <a:xfrm>
            <a:off x="4846320" y="4572000"/>
            <a:ext cx="2194560" cy="1371600"/>
          </a:xfrm>
          <a:prstGeom prst="round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46320" y="4663440"/>
            <a:ext cx="2194560" cy="548640"/>
          </a:xfrm>
          <a:prstGeom prst="rect">
            <a:avLst/>
          </a:prstGeom>
          <a:noFill/>
        </p:spPr>
        <p:txBody>
          <a:bodyPr wrap="square" anchor="t">
            <a:spAutoFit/>
          </a:bodyPr>
          <a:lstStyle/>
          <a:p>
            <a:pPr algn="ctr"/>
            <a:r>
              <a:rPr sz="2200" b="1" i="0">
                <a:solidFill>
                  <a:srgbClr val="FFFFFF"/>
                </a:solidFill>
                <a:latin typeface="Tahoma"/>
              </a:rPr>
              <a:t>W13</a:t>
            </a:r>
          </a:p>
        </p:txBody>
      </p:sp>
      <p:sp>
        <p:nvSpPr>
          <p:cNvPr id="43" name="TextBox 42"/>
          <p:cNvSpPr txBox="1"/>
          <p:nvPr/>
        </p:nvSpPr>
        <p:spPr>
          <a:xfrm>
            <a:off x="4846320" y="5257800"/>
            <a:ext cx="2194560" cy="548640"/>
          </a:xfrm>
          <a:prstGeom prst="rect">
            <a:avLst/>
          </a:prstGeom>
          <a:noFill/>
        </p:spPr>
        <p:txBody>
          <a:bodyPr wrap="square" anchor="t">
            <a:spAutoFit/>
          </a:bodyPr>
          <a:lstStyle/>
          <a:p>
            <a:pPr algn="ctr"/>
            <a:r>
              <a:rPr sz="1200" b="1" i="0">
                <a:solidFill>
                  <a:srgbClr val="FFFFFF"/>
                </a:solidFill>
                <a:latin typeface="Tahoma"/>
              </a:rPr>
              <a:t>Workshop</a:t>
            </a:r>
          </a:p>
        </p:txBody>
      </p:sp>
      <p:sp>
        <p:nvSpPr>
          <p:cNvPr id="44" name="Rounded Rectangle 43"/>
          <p:cNvSpPr/>
          <p:nvPr/>
        </p:nvSpPr>
        <p:spPr>
          <a:xfrm>
            <a:off x="7086600" y="4572000"/>
            <a:ext cx="2194560" cy="137160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86600" y="4663440"/>
            <a:ext cx="2194560" cy="548640"/>
          </a:xfrm>
          <a:prstGeom prst="rect">
            <a:avLst/>
          </a:prstGeom>
          <a:noFill/>
        </p:spPr>
        <p:txBody>
          <a:bodyPr wrap="square" anchor="t">
            <a:spAutoFit/>
          </a:bodyPr>
          <a:lstStyle/>
          <a:p>
            <a:pPr algn="ctr"/>
            <a:r>
              <a:rPr sz="2200" b="1" i="0">
                <a:solidFill>
                  <a:srgbClr val="FFFFFF"/>
                </a:solidFill>
                <a:latin typeface="Tahoma"/>
              </a:rPr>
              <a:t>W14</a:t>
            </a:r>
          </a:p>
        </p:txBody>
      </p:sp>
      <p:sp>
        <p:nvSpPr>
          <p:cNvPr id="46" name="TextBox 45"/>
          <p:cNvSpPr txBox="1"/>
          <p:nvPr/>
        </p:nvSpPr>
        <p:spPr>
          <a:xfrm>
            <a:off x="7086600" y="5257800"/>
            <a:ext cx="2194560" cy="548640"/>
          </a:xfrm>
          <a:prstGeom prst="rect">
            <a:avLst/>
          </a:prstGeom>
          <a:noFill/>
        </p:spPr>
        <p:txBody>
          <a:bodyPr wrap="square" anchor="t">
            <a:spAutoFit/>
          </a:bodyPr>
          <a:lstStyle/>
          <a:p>
            <a:pPr algn="ctr"/>
            <a:r>
              <a:rPr sz="1200" b="1" i="0">
                <a:solidFill>
                  <a:srgbClr val="FFFFFF"/>
                </a:solidFill>
                <a:latin typeface="Tahoma"/>
              </a:rPr>
              <a:t>Demo Day</a:t>
            </a:r>
          </a:p>
        </p:txBody>
      </p:sp>
      <p:sp>
        <p:nvSpPr>
          <p:cNvPr id="47" name="Rounded Rectangle 46"/>
          <p:cNvSpPr/>
          <p:nvPr/>
        </p:nvSpPr>
        <p:spPr>
          <a:xfrm>
            <a:off x="9326880" y="4572000"/>
            <a:ext cx="2194560" cy="1371600"/>
          </a:xfrm>
          <a:prstGeom prst="round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26880" y="4663440"/>
            <a:ext cx="2194560" cy="548640"/>
          </a:xfrm>
          <a:prstGeom prst="rect">
            <a:avLst/>
          </a:prstGeom>
          <a:noFill/>
        </p:spPr>
        <p:txBody>
          <a:bodyPr wrap="square" anchor="t">
            <a:spAutoFit/>
          </a:bodyPr>
          <a:lstStyle/>
          <a:p>
            <a:pPr algn="ctr"/>
            <a:r>
              <a:rPr sz="2200" b="1" i="0">
                <a:solidFill>
                  <a:srgbClr val="FFFFFF"/>
                </a:solidFill>
                <a:latin typeface="Tahoma"/>
              </a:rPr>
              <a:t>W15</a:t>
            </a:r>
          </a:p>
        </p:txBody>
      </p:sp>
      <p:sp>
        <p:nvSpPr>
          <p:cNvPr id="49" name="TextBox 48"/>
          <p:cNvSpPr txBox="1"/>
          <p:nvPr/>
        </p:nvSpPr>
        <p:spPr>
          <a:xfrm>
            <a:off x="9326880" y="5257800"/>
            <a:ext cx="2194560" cy="548640"/>
          </a:xfrm>
          <a:prstGeom prst="rect">
            <a:avLst/>
          </a:prstGeom>
          <a:noFill/>
        </p:spPr>
        <p:txBody>
          <a:bodyPr wrap="square" anchor="t">
            <a:spAutoFit/>
          </a:bodyPr>
          <a:lstStyle/>
          <a:p>
            <a:pPr algn="ctr"/>
            <a:r>
              <a:rPr sz="1200" b="1" i="0">
                <a:solidFill>
                  <a:srgbClr val="FFFFFF"/>
                </a:solidFill>
                <a:latin typeface="Tahoma"/>
              </a:rPr>
              <a:t>Professional Practice</a:t>
            </a:r>
          </a:p>
        </p:txBody>
      </p:sp>
      <p:sp>
        <p:nvSpPr>
          <p:cNvPr id="50" name="TextBox 49"/>
          <p:cNvSpPr txBox="1"/>
          <p:nvPr/>
        </p:nvSpPr>
        <p:spPr>
          <a:xfrm>
            <a:off x="365760" y="5852160"/>
            <a:ext cx="5486400" cy="274320"/>
          </a:xfrm>
          <a:prstGeom prst="rect">
            <a:avLst/>
          </a:prstGeom>
          <a:noFill/>
        </p:spPr>
        <p:txBody>
          <a:bodyPr wrap="square" anchor="t">
            <a:spAutoFit/>
          </a:bodyPr>
          <a:lstStyle/>
          <a:p>
            <a:pPr algn="l"/>
            <a:r>
              <a:rPr sz="1000" b="0" i="1">
                <a:solidFill>
                  <a:srgbClr val="1F4E79"/>
                </a:solidFill>
                <a:latin typeface="Tahoma"/>
              </a:rPr>
              <a:t>สีน้ำเงินเข้ม · บทพื้นฐาน (W1–W7)</a:t>
            </a:r>
          </a:p>
        </p:txBody>
      </p:sp>
      <p:sp>
        <p:nvSpPr>
          <p:cNvPr id="51" name="TextBox 50"/>
          <p:cNvSpPr txBox="1"/>
          <p:nvPr/>
        </p:nvSpPr>
        <p:spPr>
          <a:xfrm>
            <a:off x="4206240" y="5852160"/>
            <a:ext cx="2743200" cy="274320"/>
          </a:xfrm>
          <a:prstGeom prst="rect">
            <a:avLst/>
          </a:prstGeom>
          <a:noFill/>
        </p:spPr>
        <p:txBody>
          <a:bodyPr wrap="square" anchor="t">
            <a:spAutoFit/>
          </a:bodyPr>
          <a:lstStyle/>
          <a:p>
            <a:pPr algn="l"/>
            <a:r>
              <a:rPr sz="1000" b="0" i="1">
                <a:solidFill>
                  <a:srgbClr val="BF9000"/>
                </a:solidFill>
                <a:latin typeface="Tahoma"/>
              </a:rPr>
              <a:t>สีทอง · Midterm (W8)</a:t>
            </a:r>
          </a:p>
        </p:txBody>
      </p:sp>
      <p:sp>
        <p:nvSpPr>
          <p:cNvPr id="52" name="TextBox 51"/>
          <p:cNvSpPr txBox="1"/>
          <p:nvPr/>
        </p:nvSpPr>
        <p:spPr>
          <a:xfrm>
            <a:off x="6126480" y="5852160"/>
            <a:ext cx="3657600" cy="274320"/>
          </a:xfrm>
          <a:prstGeom prst="rect">
            <a:avLst/>
          </a:prstGeom>
          <a:noFill/>
        </p:spPr>
        <p:txBody>
          <a:bodyPr wrap="square" anchor="t">
            <a:spAutoFit/>
          </a:bodyPr>
          <a:lstStyle/>
          <a:p>
            <a:pPr algn="l"/>
            <a:r>
              <a:rPr sz="1000" b="0" i="1">
                <a:solidFill>
                  <a:srgbClr val="2E75B6"/>
                </a:solidFill>
                <a:latin typeface="Tahoma"/>
              </a:rPr>
              <a:t>สีฟ้า · บทหลัง mid (W9–W12)</a:t>
            </a:r>
          </a:p>
        </p:txBody>
      </p:sp>
      <p:sp>
        <p:nvSpPr>
          <p:cNvPr id="53" name="TextBox 52"/>
          <p:cNvSpPr txBox="1"/>
          <p:nvPr/>
        </p:nvSpPr>
        <p:spPr>
          <a:xfrm>
            <a:off x="8686800" y="5852160"/>
            <a:ext cx="3200400" cy="274320"/>
          </a:xfrm>
          <a:prstGeom prst="rect">
            <a:avLst/>
          </a:prstGeom>
          <a:noFill/>
        </p:spPr>
        <p:txBody>
          <a:bodyPr wrap="square" anchor="t">
            <a:spAutoFit/>
          </a:bodyPr>
          <a:lstStyle/>
          <a:p>
            <a:pPr algn="l"/>
            <a:r>
              <a:rPr sz="1000" b="0" i="1">
                <a:solidFill>
                  <a:srgbClr val="C00000"/>
                </a:solidFill>
                <a:latin typeface="Tahoma"/>
              </a:rPr>
              <a:t>สีแดง · Demo Day (W14)</a:t>
            </a:r>
          </a:p>
        </p:txBody>
      </p:sp>
      <p:sp>
        <p:nvSpPr>
          <p:cNvPr id="54" name="TextBox 53"/>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55" name="TextBox 54"/>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Project vs Product — โลกสองแบบของซอฟต์แวร์</a:t>
            </a:r>
          </a:p>
        </p:txBody>
      </p:sp>
      <p:sp>
        <p:nvSpPr>
          <p:cNvPr id="3" name="Rectangle 2"/>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463040"/>
          <a:ext cx="11247120" cy="4114800"/>
        </p:xfrm>
        <a:graphic>
          <a:graphicData uri="http://schemas.openxmlformats.org/drawingml/2006/table">
            <a:tbl>
              <a:tblPr firstRow="1" bandRow="1">
                <a:tableStyleId>{5C22544A-7EE6-4342-B048-85BDC9FD1C3A}</a:tableStyleId>
              </a:tblPr>
              <a:tblGrid>
                <a:gridCol w="2286000"/>
                <a:gridCol w="4297680"/>
                <a:gridCol w="4663440"/>
              </a:tblGrid>
              <a:tr h="685800">
                <a:tc>
                  <a:txBody>
                    <a:bodyPr/>
                    <a:lstStyle/>
                    <a:p>
                      <a:pPr algn="l"/>
                      <a:r>
                        <a:rPr sz="1800" b="1">
                          <a:solidFill>
                            <a:srgbClr val="FFFFFF"/>
                          </a:solidFill>
                          <a:latin typeface="Tahoma"/>
                        </a:rPr>
                        <a:t>มิติ</a:t>
                      </a:r>
                    </a:p>
                  </a:txBody>
                  <a:tcPr marL="91440" marR="91440" marT="45720" marB="45720">
                    <a:solidFill>
                      <a:srgbClr val="1F4E79"/>
                    </a:solidFill>
                  </a:tcPr>
                </a:tc>
                <a:tc>
                  <a:txBody>
                    <a:bodyPr/>
                    <a:lstStyle/>
                    <a:p>
                      <a:pPr algn="l"/>
                      <a:r>
                        <a:rPr sz="1800" b="1">
                          <a:solidFill>
                            <a:srgbClr val="FFFFFF"/>
                          </a:solidFill>
                          <a:latin typeface="Tahoma"/>
                        </a:rPr>
                        <a:t>Project-based</a:t>
                      </a:r>
                    </a:p>
                  </a:txBody>
                  <a:tcPr marL="91440" marR="91440" marT="45720" marB="45720">
                    <a:solidFill>
                      <a:srgbClr val="1F4E79"/>
                    </a:solidFill>
                  </a:tcPr>
                </a:tc>
                <a:tc>
                  <a:txBody>
                    <a:bodyPr/>
                    <a:lstStyle/>
                    <a:p>
                      <a:pPr algn="l"/>
                      <a:r>
                        <a:rPr sz="1800" b="1">
                          <a:solidFill>
                            <a:srgbClr val="FFFFFF"/>
                          </a:solidFill>
                          <a:latin typeface="Tahoma"/>
                        </a:rPr>
                        <a:t>Product-based</a:t>
                      </a:r>
                    </a:p>
                  </a:txBody>
                  <a:tcPr marL="91440" marR="91440" marT="45720" marB="45720">
                    <a:solidFill>
                      <a:srgbClr val="1F4E79"/>
                    </a:solidFill>
                  </a:tcPr>
                </a:tc>
              </a:tr>
              <a:tr h="685800">
                <a:tc>
                  <a:txBody>
                    <a:bodyPr/>
                    <a:lstStyle/>
                    <a:p>
                      <a:pPr algn="l"/>
                      <a:r>
                        <a:rPr sz="1800">
                          <a:solidFill>
                            <a:srgbClr val="1F1F1F"/>
                          </a:solidFill>
                          <a:latin typeface="Tahoma"/>
                        </a:rPr>
                        <a:t>เป้าหมาย</a:t>
                      </a:r>
                    </a:p>
                  </a:txBody>
                  <a:tcPr marL="91440" marR="91440" marT="45720" marB="45720">
                    <a:solidFill>
                      <a:srgbClr val="FFFFFF"/>
                    </a:solidFill>
                  </a:tcPr>
                </a:tc>
                <a:tc>
                  <a:txBody>
                    <a:bodyPr/>
                    <a:lstStyle/>
                    <a:p>
                      <a:pPr algn="l"/>
                      <a:r>
                        <a:rPr sz="1800">
                          <a:solidFill>
                            <a:srgbClr val="1F1F1F"/>
                          </a:solidFill>
                          <a:latin typeface="Tahoma"/>
                        </a:rPr>
                        <a:t>ส่งมอบตามสัญญา</a:t>
                      </a:r>
                    </a:p>
                  </a:txBody>
                  <a:tcPr marL="91440" marR="91440" marT="45720" marB="45720">
                    <a:solidFill>
                      <a:srgbClr val="FFFFFF"/>
                    </a:solidFill>
                  </a:tcPr>
                </a:tc>
                <a:tc>
                  <a:txBody>
                    <a:bodyPr/>
                    <a:lstStyle/>
                    <a:p>
                      <a:pPr algn="l"/>
                      <a:r>
                        <a:rPr sz="1800">
                          <a:solidFill>
                            <a:srgbClr val="1F1F1F"/>
                          </a:solidFill>
                          <a:latin typeface="Tahoma"/>
                        </a:rPr>
                        <a:t>สร้าง + รักษาฐานผู้ใช้</a:t>
                      </a:r>
                    </a:p>
                  </a:txBody>
                  <a:tcPr marL="91440" marR="91440" marT="45720" marB="45720">
                    <a:solidFill>
                      <a:srgbClr val="FFFFFF"/>
                    </a:solidFill>
                  </a:tcPr>
                </a:tc>
              </a:tr>
              <a:tr h="685800">
                <a:tc>
                  <a:txBody>
                    <a:bodyPr/>
                    <a:lstStyle/>
                    <a:p>
                      <a:pPr algn="l"/>
                      <a:r>
                        <a:rPr sz="1800">
                          <a:solidFill>
                            <a:srgbClr val="1F1F1F"/>
                          </a:solidFill>
                          <a:latin typeface="Tahoma"/>
                        </a:rPr>
                        <a:t>ระยะเวลา</a:t>
                      </a:r>
                    </a:p>
                  </a:txBody>
                  <a:tcPr marL="91440" marR="91440" marT="45720" marB="45720">
                    <a:solidFill>
                      <a:srgbClr val="F2F2F2"/>
                    </a:solidFill>
                  </a:tcPr>
                </a:tc>
                <a:tc>
                  <a:txBody>
                    <a:bodyPr/>
                    <a:lstStyle/>
                    <a:p>
                      <a:pPr algn="l"/>
                      <a:r>
                        <a:rPr sz="1800">
                          <a:solidFill>
                            <a:srgbClr val="1F1F1F"/>
                          </a:solidFill>
                          <a:latin typeface="Tahoma"/>
                        </a:rPr>
                        <a:t>เริ่มต้น–สิ้นสุดชัดเจน</a:t>
                      </a:r>
                    </a:p>
                  </a:txBody>
                  <a:tcPr marL="91440" marR="91440" marT="45720" marB="45720">
                    <a:solidFill>
                      <a:srgbClr val="F2F2F2"/>
                    </a:solidFill>
                  </a:tcPr>
                </a:tc>
                <a:tc>
                  <a:txBody>
                    <a:bodyPr/>
                    <a:lstStyle/>
                    <a:p>
                      <a:pPr algn="l"/>
                      <a:r>
                        <a:rPr sz="1800">
                          <a:solidFill>
                            <a:srgbClr val="1F1F1F"/>
                          </a:solidFill>
                          <a:latin typeface="Tahoma"/>
                        </a:rPr>
                        <a:t>ดำเนินต่อเนื่องหลายปี</a:t>
                      </a:r>
                    </a:p>
                  </a:txBody>
                  <a:tcPr marL="91440" marR="91440" marT="45720" marB="45720">
                    <a:solidFill>
                      <a:srgbClr val="F2F2F2"/>
                    </a:solidFill>
                  </a:tcPr>
                </a:tc>
              </a:tr>
              <a:tr h="685800">
                <a:tc>
                  <a:txBody>
                    <a:bodyPr/>
                    <a:lstStyle/>
                    <a:p>
                      <a:pPr algn="l"/>
                      <a:r>
                        <a:rPr sz="1800">
                          <a:solidFill>
                            <a:srgbClr val="1F1F1F"/>
                          </a:solidFill>
                          <a:latin typeface="Tahoma"/>
                        </a:rPr>
                        <a:t>ทีมงาน</a:t>
                      </a:r>
                    </a:p>
                  </a:txBody>
                  <a:tcPr marL="91440" marR="91440" marT="45720" marB="45720">
                    <a:solidFill>
                      <a:srgbClr val="FFFFFF"/>
                    </a:solidFill>
                  </a:tcPr>
                </a:tc>
                <a:tc>
                  <a:txBody>
                    <a:bodyPr/>
                    <a:lstStyle/>
                    <a:p>
                      <a:pPr algn="l"/>
                      <a:r>
                        <a:rPr sz="1800">
                          <a:solidFill>
                            <a:srgbClr val="1F1F1F"/>
                          </a:solidFill>
                          <a:latin typeface="Tahoma"/>
                        </a:rPr>
                        <a:t>อาจสลายหลังส่งมอบ</a:t>
                      </a:r>
                    </a:p>
                  </a:txBody>
                  <a:tcPr marL="91440" marR="91440" marT="45720" marB="45720">
                    <a:solidFill>
                      <a:srgbClr val="FFFFFF"/>
                    </a:solidFill>
                  </a:tcPr>
                </a:tc>
                <a:tc>
                  <a:txBody>
                    <a:bodyPr/>
                    <a:lstStyle/>
                    <a:p>
                      <a:pPr algn="l"/>
                      <a:r>
                        <a:rPr sz="1800">
                          <a:solidFill>
                            <a:srgbClr val="1F1F1F"/>
                          </a:solidFill>
                          <a:latin typeface="Tahoma"/>
                        </a:rPr>
                        <a:t>ทีมหลักดูแลต่อเนื่อง</a:t>
                      </a:r>
                    </a:p>
                  </a:txBody>
                  <a:tcPr marL="91440" marR="91440" marT="45720" marB="45720">
                    <a:solidFill>
                      <a:srgbClr val="FFFFFF"/>
                    </a:solidFill>
                  </a:tcPr>
                </a:tc>
              </a:tr>
              <a:tr h="685800">
                <a:tc>
                  <a:txBody>
                    <a:bodyPr/>
                    <a:lstStyle/>
                    <a:p>
                      <a:pPr algn="l"/>
                      <a:r>
                        <a:rPr sz="1800">
                          <a:solidFill>
                            <a:srgbClr val="1F1F1F"/>
                          </a:solidFill>
                          <a:latin typeface="Tahoma"/>
                        </a:rPr>
                        <a:t>ความสำเร็จ</a:t>
                      </a:r>
                    </a:p>
                  </a:txBody>
                  <a:tcPr marL="91440" marR="91440" marT="45720" marB="45720">
                    <a:solidFill>
                      <a:srgbClr val="F2F2F2"/>
                    </a:solidFill>
                  </a:tcPr>
                </a:tc>
                <a:tc>
                  <a:txBody>
                    <a:bodyPr/>
                    <a:lstStyle/>
                    <a:p>
                      <a:pPr algn="l"/>
                      <a:r>
                        <a:rPr sz="1800">
                          <a:solidFill>
                            <a:srgbClr val="1F1F1F"/>
                          </a:solidFill>
                          <a:latin typeface="Tahoma"/>
                        </a:rPr>
                        <a:t>ตรงเวลา ในงบ ตาม scope</a:t>
                      </a:r>
                    </a:p>
                  </a:txBody>
                  <a:tcPr marL="91440" marR="91440" marT="45720" marB="45720">
                    <a:solidFill>
                      <a:srgbClr val="F2F2F2"/>
                    </a:solidFill>
                  </a:tcPr>
                </a:tc>
                <a:tc>
                  <a:txBody>
                    <a:bodyPr/>
                    <a:lstStyle/>
                    <a:p>
                      <a:pPr algn="l"/>
                      <a:r>
                        <a:rPr sz="1800">
                          <a:solidFill>
                            <a:srgbClr val="1F1F1F"/>
                          </a:solidFill>
                          <a:latin typeface="Tahoma"/>
                        </a:rPr>
                        <a:t>Engagement · Retention · Revenue</a:t>
                      </a:r>
                    </a:p>
                  </a:txBody>
                  <a:tcPr marL="91440" marR="91440" marT="45720" marB="45720">
                    <a:solidFill>
                      <a:srgbClr val="F2F2F2"/>
                    </a:solidFill>
                  </a:tcPr>
                </a:tc>
              </a:tr>
              <a:tr h="685800">
                <a:tc>
                  <a:txBody>
                    <a:bodyPr/>
                    <a:lstStyle/>
                    <a:p>
                      <a:pPr algn="l"/>
                      <a:r>
                        <a:rPr sz="1800">
                          <a:solidFill>
                            <a:srgbClr val="1F1F1F"/>
                          </a:solidFill>
                          <a:latin typeface="Tahoma"/>
                        </a:rPr>
                        <a:t>การเปลี่ยนแปลง</a:t>
                      </a:r>
                    </a:p>
                  </a:txBody>
                  <a:tcPr marL="91440" marR="91440" marT="45720" marB="45720">
                    <a:solidFill>
                      <a:srgbClr val="FFFFFF"/>
                    </a:solidFill>
                  </a:tcPr>
                </a:tc>
                <a:tc>
                  <a:txBody>
                    <a:bodyPr/>
                    <a:lstStyle/>
                    <a:p>
                      <a:pPr algn="l"/>
                      <a:r>
                        <a:rPr sz="1800">
                          <a:solidFill>
                            <a:srgbClr val="1F1F1F"/>
                          </a:solidFill>
                          <a:latin typeface="Tahoma"/>
                        </a:rPr>
                        <a:t>ผ่าน Change Request</a:t>
                      </a:r>
                    </a:p>
                  </a:txBody>
                  <a:tcPr marL="91440" marR="91440" marT="45720" marB="45720">
                    <a:solidFill>
                      <a:srgbClr val="FFFFFF"/>
                    </a:solidFill>
                  </a:tcPr>
                </a:tc>
                <a:tc>
                  <a:txBody>
                    <a:bodyPr/>
                    <a:lstStyle/>
                    <a:p>
                      <a:pPr algn="l"/>
                      <a:r>
                        <a:rPr sz="1800">
                          <a:solidFill>
                            <a:srgbClr val="1F1F1F"/>
                          </a:solidFill>
                          <a:latin typeface="Tahoma"/>
                        </a:rPr>
                        <a:t>ปรับตาม feedback จริง</a:t>
                      </a:r>
                    </a:p>
                  </a:txBody>
                  <a:tcPr marL="91440" marR="91440" marT="45720" marB="45720">
                    <a:solidFill>
                      <a:srgbClr val="FFFFFF"/>
                    </a:solidFill>
                  </a:tcPr>
                </a:tc>
              </a:tr>
            </a:tbl>
          </a:graphicData>
        </a:graphic>
      </p:graphicFrame>
      <p:sp>
        <p:nvSpPr>
          <p:cNvPr id="5" name="TextBox 4"/>
          <p:cNvSpPr txBox="1"/>
          <p:nvPr/>
        </p:nvSpPr>
        <p:spPr>
          <a:xfrm>
            <a:off x="457200" y="5760720"/>
            <a:ext cx="11247120" cy="365760"/>
          </a:xfrm>
          <a:prstGeom prst="rect">
            <a:avLst/>
          </a:prstGeom>
          <a:noFill/>
        </p:spPr>
        <p:txBody>
          <a:bodyPr wrap="square" anchor="t">
            <a:spAutoFit/>
          </a:bodyPr>
          <a:lstStyle/>
          <a:p>
            <a:pPr algn="l"/>
            <a:r>
              <a:rPr sz="1400" b="1" i="1">
                <a:solidFill>
                  <a:srgbClr val="BF9000"/>
                </a:solidFill>
                <a:latin typeface="Tahoma"/>
              </a:rPr>
              <a:t>💡 รายวิชานี้เน้น Product-based — นิสิตจะดูแล Product จริงตลอดภาคการศึกษา</a:t>
            </a:r>
          </a:p>
        </p:txBody>
      </p:sp>
      <p:sp>
        <p:nvSpPr>
          <p:cNvPr id="6" name="TextBox 5"/>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7" name="TextBox 6"/>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Product Vision Statement</a:t>
            </a:r>
          </a:p>
        </p:txBody>
      </p:sp>
      <p:sp>
        <p:nvSpPr>
          <p:cNvPr id="3" name="TextBox 2"/>
          <p:cNvSpPr txBox="1"/>
          <p:nvPr/>
        </p:nvSpPr>
        <p:spPr>
          <a:xfrm>
            <a:off x="457200" y="868680"/>
            <a:ext cx="11247120" cy="365760"/>
          </a:xfrm>
          <a:prstGeom prst="rect">
            <a:avLst/>
          </a:prstGeom>
          <a:noFill/>
        </p:spPr>
        <p:txBody>
          <a:bodyPr wrap="square" anchor="t">
            <a:spAutoFit/>
          </a:bodyPr>
          <a:lstStyle/>
          <a:p>
            <a:pPr algn="l"/>
            <a:r>
              <a:rPr sz="1600" b="0" i="1">
                <a:solidFill>
                  <a:srgbClr val="595959"/>
                </a:solidFill>
                <a:latin typeface="Tahoma"/>
              </a:rPr>
              <a:t>Moore Template</a:t>
            </a:r>
          </a:p>
        </p:txBody>
      </p:sp>
      <p:sp>
        <p:nvSpPr>
          <p:cNvPr id="4" name="Rectangle 3"/>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63040"/>
            <a:ext cx="10972800" cy="2286000"/>
          </a:xfrm>
          <a:prstGeom prst="roundRect">
            <a:avLst/>
          </a:prstGeom>
          <a:solidFill>
            <a:srgbClr val="D9E2F3"/>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spcAft>
                <a:spcPts val="400"/>
              </a:spcAft>
            </a:pPr>
            <a:r>
              <a:rPr sz="1800">
                <a:solidFill>
                  <a:srgbClr val="1F4E79"/>
                </a:solidFill>
                <a:latin typeface="Tahoma"/>
              </a:rPr>
              <a:t>FOR    [target customer]</a:t>
            </a:r>
          </a:p>
          <a:p>
            <a:pPr algn="l">
              <a:spcAft>
                <a:spcPts val="400"/>
              </a:spcAft>
            </a:pPr>
            <a:r>
              <a:rPr sz="1800">
                <a:solidFill>
                  <a:srgbClr val="1F4E79"/>
                </a:solidFill>
                <a:latin typeface="Tahoma"/>
              </a:rPr>
              <a:t>WHO   [need/opportunity]</a:t>
            </a:r>
          </a:p>
          <a:p>
            <a:pPr algn="l">
              <a:spcAft>
                <a:spcPts val="400"/>
              </a:spcAft>
            </a:pPr>
            <a:r>
              <a:rPr sz="1800">
                <a:solidFill>
                  <a:srgbClr val="1F4E79"/>
                </a:solidFill>
                <a:latin typeface="Tahoma"/>
              </a:rPr>
              <a:t>THE    [product name]</a:t>
            </a:r>
          </a:p>
          <a:p>
            <a:pPr algn="l">
              <a:spcAft>
                <a:spcPts val="400"/>
              </a:spcAft>
            </a:pPr>
            <a:r>
              <a:rPr sz="1800">
                <a:solidFill>
                  <a:srgbClr val="1F4E79"/>
                </a:solidFill>
                <a:latin typeface="Tahoma"/>
              </a:rPr>
              <a:t>IS A   [product category]</a:t>
            </a:r>
          </a:p>
          <a:p>
            <a:pPr algn="l">
              <a:spcAft>
                <a:spcPts val="400"/>
              </a:spcAft>
            </a:pPr>
            <a:r>
              <a:rPr sz="1800">
                <a:solidFill>
                  <a:srgbClr val="1F4E79"/>
                </a:solidFill>
                <a:latin typeface="Tahoma"/>
              </a:rPr>
              <a:t>THAT  [key benefit]</a:t>
            </a:r>
          </a:p>
          <a:p>
            <a:pPr algn="l">
              <a:spcAft>
                <a:spcPts val="400"/>
              </a:spcAft>
            </a:pPr>
            <a:r>
              <a:rPr sz="1800">
                <a:solidFill>
                  <a:srgbClr val="1F4E79"/>
                </a:solidFill>
                <a:latin typeface="Tahoma"/>
              </a:rPr>
              <a:t>UNLIKE  [primary competitor]</a:t>
            </a:r>
          </a:p>
          <a:p>
            <a:pPr algn="l">
              <a:spcAft>
                <a:spcPts val="400"/>
              </a:spcAft>
            </a:pPr>
            <a:r>
              <a:rPr sz="1800">
                <a:solidFill>
                  <a:srgbClr val="1F4E79"/>
                </a:solidFill>
                <a:latin typeface="Tahoma"/>
              </a:rPr>
              <a:t>OUR PRODUCT   [key differentiation]</a:t>
            </a:r>
          </a:p>
        </p:txBody>
      </p:sp>
      <p:sp>
        <p:nvSpPr>
          <p:cNvPr id="6" name="Rounded Rectangle 5"/>
          <p:cNvSpPr/>
          <p:nvPr/>
        </p:nvSpPr>
        <p:spPr>
          <a:xfrm>
            <a:off x="640080" y="4023360"/>
            <a:ext cx="10972800" cy="20116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r>
              <a:rPr sz="1400" i="0" b="1">
                <a:solidFill>
                  <a:srgbClr val="BF9000"/>
                </a:solidFill>
                <a:latin typeface="Tahoma"/>
              </a:rPr>
              <a:t>ตัวอย่าง: Pragmatic Pomodoro</a:t>
            </a:r>
          </a:p>
          <a:p>
            <a:pPr algn="l">
              <a:spcAft>
                <a:spcPts val="200"/>
              </a:spcAft>
            </a:pPr>
            <a:r>
              <a:rPr sz="1400">
                <a:solidFill>
                  <a:srgbClr val="1F1F1F"/>
                </a:solidFill>
                <a:latin typeface="Tahoma"/>
              </a:rPr>
              <a:t>FOR นิสิตมหาวิทยาลัย / WHO ต้องการโฟกัสแต่ขาดเครื่องมือจัดการเวลา /</a:t>
            </a:r>
          </a:p>
          <a:p>
            <a:pPr algn="l">
              <a:spcAft>
                <a:spcPts val="200"/>
              </a:spcAft>
            </a:pPr>
            <a:r>
              <a:rPr sz="1400">
                <a:solidFill>
                  <a:srgbClr val="1F1F1F"/>
                </a:solidFill>
                <a:latin typeface="Tahoma"/>
              </a:rPr>
              <a:t>THE "Pragmatic Pomodoro" / IS A แอปจับเวลาแบบ Pomodoro /</a:t>
            </a:r>
          </a:p>
          <a:p>
            <a:pPr algn="l">
              <a:spcAft>
                <a:spcPts val="200"/>
              </a:spcAft>
            </a:pPr>
            <a:r>
              <a:rPr sz="1400">
                <a:solidFill>
                  <a:srgbClr val="1F1F1F"/>
                </a:solidFill>
                <a:latin typeface="Tahoma"/>
              </a:rPr>
              <a:t>THAT ช่วยให้ผู้ใช้เห็นสถิติการโฟกัส + ปรับพฤติกรรม /</a:t>
            </a:r>
          </a:p>
          <a:p>
            <a:pPr algn="l">
              <a:spcAft>
                <a:spcPts val="200"/>
              </a:spcAft>
            </a:pPr>
            <a:r>
              <a:rPr sz="1400">
                <a:solidFill>
                  <a:srgbClr val="1F1F1F"/>
                </a:solidFill>
                <a:latin typeface="Tahoma"/>
              </a:rPr>
              <a:t>UNLIKE แอป Pomodoro ทั่วไปที่จับเวลาอย่างเดียว /</a:t>
            </a:r>
          </a:p>
          <a:p>
            <a:pPr algn="l">
              <a:spcAft>
                <a:spcPts val="200"/>
              </a:spcAft>
            </a:pPr>
            <a:r>
              <a:rPr sz="1400">
                <a:solidFill>
                  <a:srgbClr val="1F1F1F"/>
                </a:solidFill>
                <a:latin typeface="Tahoma"/>
              </a:rPr>
              <a:t>OUR PRODUCT ผสมผสาน To-do list + สถิติเชิงลึก + เชื่อมปฏิทินการเรียน</a:t>
            </a:r>
          </a:p>
        </p:txBody>
      </p:sp>
      <p:sp>
        <p:nvSpPr>
          <p:cNvPr id="7" name="TextBox 6"/>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8" name="TextBox 7"/>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457200" y="1371600"/>
            <a:ext cx="11247120" cy="1371600"/>
          </a:xfrm>
          <a:prstGeom prst="rect">
            <a:avLst/>
          </a:prstGeom>
          <a:noFill/>
        </p:spPr>
        <p:txBody>
          <a:bodyPr wrap="square" anchor="t">
            <a:spAutoFit/>
          </a:bodyPr>
          <a:lstStyle/>
          <a:p>
            <a:pPr algn="ctr"/>
            <a:r>
              <a:rPr sz="12000" b="1" i="0">
                <a:solidFill>
                  <a:srgbClr val="BF9000"/>
                </a:solidFill>
                <a:latin typeface="Tahoma"/>
              </a:rPr>
              <a:t>1.3</a:t>
            </a:r>
          </a:p>
        </p:txBody>
      </p:sp>
      <p:sp>
        <p:nvSpPr>
          <p:cNvPr id="3" name="TextBox 2"/>
          <p:cNvSpPr txBox="1"/>
          <p:nvPr/>
        </p:nvSpPr>
        <p:spPr>
          <a:xfrm>
            <a:off x="457200" y="3200400"/>
            <a:ext cx="11247120" cy="1188720"/>
          </a:xfrm>
          <a:prstGeom prst="rect">
            <a:avLst/>
          </a:prstGeom>
          <a:noFill/>
        </p:spPr>
        <p:txBody>
          <a:bodyPr wrap="square" anchor="t">
            <a:spAutoFit/>
          </a:bodyPr>
          <a:lstStyle/>
          <a:p>
            <a:pPr algn="ctr"/>
            <a:r>
              <a:rPr sz="6000" b="1" i="0">
                <a:solidFill>
                  <a:srgbClr val="FFFFFF"/>
                </a:solidFill>
                <a:latin typeface="Tahoma"/>
              </a:rPr>
              <a:t>ปรัชญา Pragmatic</a:t>
            </a:r>
          </a:p>
        </p:txBody>
      </p:sp>
      <p:sp>
        <p:nvSpPr>
          <p:cNvPr id="4" name="TextBox 3"/>
          <p:cNvSpPr txBox="1"/>
          <p:nvPr/>
        </p:nvSpPr>
        <p:spPr>
          <a:xfrm>
            <a:off x="457200" y="4480560"/>
            <a:ext cx="11247120" cy="548640"/>
          </a:xfrm>
          <a:prstGeom prst="rect">
            <a:avLst/>
          </a:prstGeom>
          <a:noFill/>
        </p:spPr>
        <p:txBody>
          <a:bodyPr wrap="square" anchor="t">
            <a:spAutoFit/>
          </a:bodyPr>
          <a:lstStyle/>
          <a:p>
            <a:pPr algn="ctr"/>
            <a:r>
              <a:rPr sz="2200" b="0" i="1">
                <a:solidFill>
                  <a:srgbClr val="D9E2F3"/>
                </a:solidFill>
                <a:latin typeface="Tahoma"/>
              </a:rPr>
              <a:t>Your Journey to Mastery</a:t>
            </a:r>
          </a:p>
        </p:txBody>
      </p:sp>
      <p:sp>
        <p:nvSpPr>
          <p:cNvPr id="5" name="TextBox 4"/>
          <p:cNvSpPr txBox="1"/>
          <p:nvPr/>
        </p:nvSpPr>
        <p:spPr>
          <a:xfrm>
            <a:off x="457200" y="5120640"/>
            <a:ext cx="11247120" cy="457200"/>
          </a:xfrm>
          <a:prstGeom prst="rect">
            <a:avLst/>
          </a:prstGeom>
          <a:noFill/>
        </p:spPr>
        <p:txBody>
          <a:bodyPr wrap="square" anchor="t">
            <a:spAutoFit/>
          </a:bodyPr>
          <a:lstStyle/>
          <a:p>
            <a:pPr algn="ctr"/>
            <a:r>
              <a:rPr sz="1600" b="0" i="1">
                <a:solidFill>
                  <a:srgbClr val="D9E2F3"/>
                </a:solidFill>
                <a:latin typeface="Tahoma"/>
              </a:rPr>
              <a:t>Andrew Hunt &amp; David Thomas · Addison-Wesley · 2019</a:t>
            </a:r>
          </a:p>
        </p:txBody>
      </p:sp>
      <p:sp>
        <p:nvSpPr>
          <p:cNvPr id="6" name="TextBox 5"/>
          <p:cNvSpPr txBox="1"/>
          <p:nvPr/>
        </p:nvSpPr>
        <p:spPr>
          <a:xfrm>
            <a:off x="457200" y="5852160"/>
            <a:ext cx="11247120" cy="365760"/>
          </a:xfrm>
          <a:prstGeom prst="rect">
            <a:avLst/>
          </a:prstGeom>
          <a:noFill/>
        </p:spPr>
        <p:txBody>
          <a:bodyPr wrap="square" anchor="t">
            <a:spAutoFit/>
          </a:bodyPr>
          <a:lstStyle/>
          <a:p>
            <a:pPr algn="ctr"/>
            <a:r>
              <a:rPr sz="1400" b="0" i="1">
                <a:solidFill>
                  <a:srgbClr val="BF9000"/>
                </a:solidFill>
                <a:latin typeface="Tahoma"/>
              </a:rPr>
              <a:t>— เครื่องมือทางปัญญา 7+ ชิ้น —</a:t>
            </a:r>
          </a:p>
        </p:txBody>
      </p:sp>
      <p:sp>
        <p:nvSpPr>
          <p:cNvPr id="7" name="TextBox 6"/>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8" name="TextBox 7"/>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Pragmatic Mindset — เจ้าของผลงานตัวจริง</a:t>
            </a:r>
          </a:p>
        </p:txBody>
      </p:sp>
      <p:sp>
        <p:nvSpPr>
          <p:cNvPr id="3" name="Rectangle 2"/>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1691639"/>
            <a:ext cx="228600" cy="2286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54480"/>
            <a:ext cx="5029200" cy="365760"/>
          </a:xfrm>
          <a:prstGeom prst="rect">
            <a:avLst/>
          </a:prstGeom>
          <a:noFill/>
        </p:spPr>
        <p:txBody>
          <a:bodyPr wrap="square" anchor="t">
            <a:spAutoFit/>
          </a:bodyPr>
          <a:lstStyle/>
          <a:p>
            <a:pPr algn="l"/>
            <a:r>
              <a:rPr sz="1700" b="1" i="0">
                <a:solidFill>
                  <a:srgbClr val="1F4E79"/>
                </a:solidFill>
                <a:latin typeface="Tahoma"/>
              </a:rPr>
              <a:t>รับผิดชอบต่ออาชีพ</a:t>
            </a:r>
          </a:p>
        </p:txBody>
      </p:sp>
      <p:sp>
        <p:nvSpPr>
          <p:cNvPr id="6" name="TextBox 5"/>
          <p:cNvSpPr txBox="1"/>
          <p:nvPr/>
        </p:nvSpPr>
        <p:spPr>
          <a:xfrm>
            <a:off x="822960" y="1874519"/>
            <a:ext cx="5029200" cy="320040"/>
          </a:xfrm>
          <a:prstGeom prst="rect">
            <a:avLst/>
          </a:prstGeom>
          <a:noFill/>
        </p:spPr>
        <p:txBody>
          <a:bodyPr wrap="square" anchor="t">
            <a:spAutoFit/>
          </a:bodyPr>
          <a:lstStyle/>
          <a:p>
            <a:pPr algn="l"/>
            <a:r>
              <a:rPr sz="1400" b="0" i="0">
                <a:solidFill>
                  <a:srgbClr val="1F1F1F"/>
                </a:solidFill>
                <a:latin typeface="Tahoma"/>
              </a:rPr>
              <a:t>Career = ของคุณ ไม่ใช่ของบริษัท</a:t>
            </a:r>
          </a:p>
        </p:txBody>
      </p:sp>
      <p:sp>
        <p:nvSpPr>
          <p:cNvPr id="7" name="Oval 6"/>
          <p:cNvSpPr/>
          <p:nvPr/>
        </p:nvSpPr>
        <p:spPr>
          <a:xfrm>
            <a:off x="6217920" y="1691639"/>
            <a:ext cx="228600" cy="2286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554480"/>
            <a:ext cx="5029200" cy="365760"/>
          </a:xfrm>
          <a:prstGeom prst="rect">
            <a:avLst/>
          </a:prstGeom>
          <a:noFill/>
        </p:spPr>
        <p:txBody>
          <a:bodyPr wrap="square" anchor="t">
            <a:spAutoFit/>
          </a:bodyPr>
          <a:lstStyle/>
          <a:p>
            <a:pPr algn="l"/>
            <a:r>
              <a:rPr sz="1700" b="1" i="0">
                <a:solidFill>
                  <a:srgbClr val="1F4E79"/>
                </a:solidFill>
                <a:latin typeface="Tahoma"/>
              </a:rPr>
              <a:t>คิดเชิงระบบ</a:t>
            </a:r>
          </a:p>
        </p:txBody>
      </p:sp>
      <p:sp>
        <p:nvSpPr>
          <p:cNvPr id="9" name="TextBox 8"/>
          <p:cNvSpPr txBox="1"/>
          <p:nvPr/>
        </p:nvSpPr>
        <p:spPr>
          <a:xfrm>
            <a:off x="6583680" y="1874519"/>
            <a:ext cx="5029200" cy="320040"/>
          </a:xfrm>
          <a:prstGeom prst="rect">
            <a:avLst/>
          </a:prstGeom>
          <a:noFill/>
        </p:spPr>
        <p:txBody>
          <a:bodyPr wrap="square" anchor="t">
            <a:spAutoFit/>
          </a:bodyPr>
          <a:lstStyle/>
          <a:p>
            <a:pPr algn="l"/>
            <a:r>
              <a:rPr sz="1400" b="0" i="0">
                <a:solidFill>
                  <a:srgbClr val="1F1F1F"/>
                </a:solidFill>
                <a:latin typeface="Tahoma"/>
              </a:rPr>
              <a:t>มองทั้ง stack ตั้งแต่ requirement ถึง deploy</a:t>
            </a:r>
          </a:p>
        </p:txBody>
      </p:sp>
      <p:sp>
        <p:nvSpPr>
          <p:cNvPr id="10" name="Oval 9"/>
          <p:cNvSpPr/>
          <p:nvPr/>
        </p:nvSpPr>
        <p:spPr>
          <a:xfrm>
            <a:off x="457200" y="2377440"/>
            <a:ext cx="228600" cy="2286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40280"/>
            <a:ext cx="5029200" cy="365760"/>
          </a:xfrm>
          <a:prstGeom prst="rect">
            <a:avLst/>
          </a:prstGeom>
          <a:noFill/>
        </p:spPr>
        <p:txBody>
          <a:bodyPr wrap="square" anchor="t">
            <a:spAutoFit/>
          </a:bodyPr>
          <a:lstStyle/>
          <a:p>
            <a:pPr algn="l"/>
            <a:r>
              <a:rPr sz="1700" b="1" i="0">
                <a:solidFill>
                  <a:srgbClr val="1F4E79"/>
                </a:solidFill>
                <a:latin typeface="Tahoma"/>
              </a:rPr>
              <a:t>สื่อสารอย่างมีประสิทธิภาพ</a:t>
            </a:r>
          </a:p>
        </p:txBody>
      </p:sp>
      <p:sp>
        <p:nvSpPr>
          <p:cNvPr id="12" name="TextBox 11"/>
          <p:cNvSpPr txBox="1"/>
          <p:nvPr/>
        </p:nvSpPr>
        <p:spPr>
          <a:xfrm>
            <a:off x="822960" y="2560320"/>
            <a:ext cx="5029200" cy="320040"/>
          </a:xfrm>
          <a:prstGeom prst="rect">
            <a:avLst/>
          </a:prstGeom>
          <a:noFill/>
        </p:spPr>
        <p:txBody>
          <a:bodyPr wrap="square" anchor="t">
            <a:spAutoFit/>
          </a:bodyPr>
          <a:lstStyle/>
          <a:p>
            <a:pPr algn="l"/>
            <a:r>
              <a:rPr sz="1400" b="0" i="0">
                <a:solidFill>
                  <a:srgbClr val="1F1F1F"/>
                </a:solidFill>
                <a:latin typeface="Tahoma"/>
              </a:rPr>
              <a:t>ทั้ง Code, English, Visual</a:t>
            </a:r>
          </a:p>
        </p:txBody>
      </p:sp>
      <p:sp>
        <p:nvSpPr>
          <p:cNvPr id="13" name="Oval 12"/>
          <p:cNvSpPr/>
          <p:nvPr/>
        </p:nvSpPr>
        <p:spPr>
          <a:xfrm>
            <a:off x="6217920" y="2377440"/>
            <a:ext cx="228600" cy="2286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240280"/>
            <a:ext cx="5029200" cy="365760"/>
          </a:xfrm>
          <a:prstGeom prst="rect">
            <a:avLst/>
          </a:prstGeom>
          <a:noFill/>
        </p:spPr>
        <p:txBody>
          <a:bodyPr wrap="square" anchor="t">
            <a:spAutoFit/>
          </a:bodyPr>
          <a:lstStyle/>
          <a:p>
            <a:pPr algn="l"/>
            <a:r>
              <a:rPr sz="1700" b="1" i="0">
                <a:solidFill>
                  <a:srgbClr val="1F4E79"/>
                </a:solidFill>
                <a:latin typeface="Tahoma"/>
              </a:rPr>
              <a:t>เรียนรู้อย่างต่อเนื่อง</a:t>
            </a:r>
          </a:p>
        </p:txBody>
      </p:sp>
      <p:sp>
        <p:nvSpPr>
          <p:cNvPr id="15" name="TextBox 14"/>
          <p:cNvSpPr txBox="1"/>
          <p:nvPr/>
        </p:nvSpPr>
        <p:spPr>
          <a:xfrm>
            <a:off x="6583680" y="2560320"/>
            <a:ext cx="5029200" cy="320040"/>
          </a:xfrm>
          <a:prstGeom prst="rect">
            <a:avLst/>
          </a:prstGeom>
          <a:noFill/>
        </p:spPr>
        <p:txBody>
          <a:bodyPr wrap="square" anchor="t">
            <a:spAutoFit/>
          </a:bodyPr>
          <a:lstStyle/>
          <a:p>
            <a:pPr algn="l"/>
            <a:r>
              <a:rPr sz="1400" b="0" i="0">
                <a:solidFill>
                  <a:srgbClr val="1F1F1F"/>
                </a:solidFill>
                <a:latin typeface="Tahoma"/>
              </a:rPr>
              <a:t>Knowledge Portfolio ต้องบริหาร</a:t>
            </a:r>
          </a:p>
        </p:txBody>
      </p:sp>
      <p:sp>
        <p:nvSpPr>
          <p:cNvPr id="16" name="Oval 15"/>
          <p:cNvSpPr/>
          <p:nvPr/>
        </p:nvSpPr>
        <p:spPr>
          <a:xfrm>
            <a:off x="457200" y="3063240"/>
            <a:ext cx="228600" cy="2286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926080"/>
            <a:ext cx="5029200" cy="365760"/>
          </a:xfrm>
          <a:prstGeom prst="rect">
            <a:avLst/>
          </a:prstGeom>
          <a:noFill/>
        </p:spPr>
        <p:txBody>
          <a:bodyPr wrap="square" anchor="t">
            <a:spAutoFit/>
          </a:bodyPr>
          <a:lstStyle/>
          <a:p>
            <a:pPr algn="l"/>
            <a:r>
              <a:rPr sz="1700" b="1" i="0">
                <a:solidFill>
                  <a:srgbClr val="1F4E79"/>
                </a:solidFill>
                <a:latin typeface="Tahoma"/>
              </a:rPr>
              <a:t>ไม่ยอมรับคุณภาพต่ำ</a:t>
            </a:r>
          </a:p>
        </p:txBody>
      </p:sp>
      <p:sp>
        <p:nvSpPr>
          <p:cNvPr id="18" name="TextBox 17"/>
          <p:cNvSpPr txBox="1"/>
          <p:nvPr/>
        </p:nvSpPr>
        <p:spPr>
          <a:xfrm>
            <a:off x="822960" y="3246120"/>
            <a:ext cx="5029200" cy="320040"/>
          </a:xfrm>
          <a:prstGeom prst="rect">
            <a:avLst/>
          </a:prstGeom>
          <a:noFill/>
        </p:spPr>
        <p:txBody>
          <a:bodyPr wrap="square" anchor="t">
            <a:spAutoFit/>
          </a:bodyPr>
          <a:lstStyle/>
          <a:p>
            <a:pPr algn="l"/>
            <a:r>
              <a:rPr sz="1400" b="0" i="0">
                <a:solidFill>
                  <a:srgbClr val="1F1F1F"/>
                </a:solidFill>
                <a:latin typeface="Tahoma"/>
              </a:rPr>
              <a:t>Zero tolerance for broken windows</a:t>
            </a:r>
          </a:p>
        </p:txBody>
      </p:sp>
      <p:sp>
        <p:nvSpPr>
          <p:cNvPr id="19" name="Oval 18"/>
          <p:cNvSpPr/>
          <p:nvPr/>
        </p:nvSpPr>
        <p:spPr>
          <a:xfrm>
            <a:off x="6217920" y="3063240"/>
            <a:ext cx="228600" cy="2286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926080"/>
            <a:ext cx="5029200" cy="365760"/>
          </a:xfrm>
          <a:prstGeom prst="rect">
            <a:avLst/>
          </a:prstGeom>
          <a:noFill/>
        </p:spPr>
        <p:txBody>
          <a:bodyPr wrap="square" anchor="t">
            <a:spAutoFit/>
          </a:bodyPr>
          <a:lstStyle/>
          <a:p>
            <a:pPr algn="l"/>
            <a:r>
              <a:rPr sz="1700" b="1" i="0">
                <a:solidFill>
                  <a:srgbClr val="1F4E79"/>
                </a:solidFill>
                <a:latin typeface="Tahoma"/>
              </a:rPr>
              <a:t>ปรับตัวตามบริบท</a:t>
            </a:r>
          </a:p>
        </p:txBody>
      </p:sp>
      <p:sp>
        <p:nvSpPr>
          <p:cNvPr id="21" name="TextBox 20"/>
          <p:cNvSpPr txBox="1"/>
          <p:nvPr/>
        </p:nvSpPr>
        <p:spPr>
          <a:xfrm>
            <a:off x="6583680" y="3246120"/>
            <a:ext cx="5029200" cy="320040"/>
          </a:xfrm>
          <a:prstGeom prst="rect">
            <a:avLst/>
          </a:prstGeom>
          <a:noFill/>
        </p:spPr>
        <p:txBody>
          <a:bodyPr wrap="square" anchor="t">
            <a:spAutoFit/>
          </a:bodyPr>
          <a:lstStyle/>
          <a:p>
            <a:pPr algn="l"/>
            <a:r>
              <a:rPr sz="1400" b="0" i="0">
                <a:solidFill>
                  <a:srgbClr val="1F1F1F"/>
                </a:solidFill>
                <a:latin typeface="Tahoma"/>
              </a:rPr>
              <a:t>ไม่มี silver bullet</a:t>
            </a:r>
          </a:p>
        </p:txBody>
      </p:sp>
      <p:sp>
        <p:nvSpPr>
          <p:cNvPr id="22" name="Oval 21"/>
          <p:cNvSpPr/>
          <p:nvPr/>
        </p:nvSpPr>
        <p:spPr>
          <a:xfrm>
            <a:off x="457200" y="3749040"/>
            <a:ext cx="228600" cy="2286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611880"/>
            <a:ext cx="5029200" cy="365760"/>
          </a:xfrm>
          <a:prstGeom prst="rect">
            <a:avLst/>
          </a:prstGeom>
          <a:noFill/>
        </p:spPr>
        <p:txBody>
          <a:bodyPr wrap="square" anchor="t">
            <a:spAutoFit/>
          </a:bodyPr>
          <a:lstStyle/>
          <a:p>
            <a:pPr algn="l"/>
            <a:r>
              <a:rPr sz="1700" b="1" i="0">
                <a:solidFill>
                  <a:srgbClr val="1F4E79"/>
                </a:solidFill>
                <a:latin typeface="Tahoma"/>
              </a:rPr>
              <a:t>ทำงานเป็นทีม</a:t>
            </a:r>
          </a:p>
        </p:txBody>
      </p:sp>
      <p:sp>
        <p:nvSpPr>
          <p:cNvPr id="24" name="TextBox 23"/>
          <p:cNvSpPr txBox="1"/>
          <p:nvPr/>
        </p:nvSpPr>
        <p:spPr>
          <a:xfrm>
            <a:off x="822960" y="3931920"/>
            <a:ext cx="5029200" cy="320040"/>
          </a:xfrm>
          <a:prstGeom prst="rect">
            <a:avLst/>
          </a:prstGeom>
          <a:noFill/>
        </p:spPr>
        <p:txBody>
          <a:bodyPr wrap="square" anchor="t">
            <a:spAutoFit/>
          </a:bodyPr>
          <a:lstStyle/>
          <a:p>
            <a:pPr algn="l"/>
            <a:r>
              <a:rPr sz="1400" b="0" i="0">
                <a:solidFill>
                  <a:srgbClr val="1F1F1F"/>
                </a:solidFill>
                <a:latin typeface="Tahoma"/>
              </a:rPr>
              <a:t>ส่งมอบร่วมกัน ไม่ใช่ฮีโร่เดี่ยว</a:t>
            </a:r>
          </a:p>
        </p:txBody>
      </p:sp>
      <p:sp>
        <p:nvSpPr>
          <p:cNvPr id="25" name="TextBox 24"/>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26" name="TextBox 25"/>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Tip 1 + Tip 4 — เจ้าของผลงานแทนที่จะโทษคนอื่น</a:t>
            </a:r>
          </a:p>
        </p:txBody>
      </p:sp>
      <p:sp>
        <p:nvSpPr>
          <p:cNvPr id="3" name="Rectangle 2"/>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554480"/>
            <a:ext cx="10881360" cy="21031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r>
              <a:rPr sz="1800" i="0" b="1">
                <a:solidFill>
                  <a:srgbClr val="BF9000"/>
                </a:solidFill>
                <a:latin typeface="Tahoma"/>
              </a:rPr>
              <a:t>Tip 1 — It's Your Life</a:t>
            </a:r>
          </a:p>
          <a:p>
            <a:r>
              <a:rPr sz="1500" i="1">
                <a:solidFill>
                  <a:srgbClr val="1F1F1F"/>
                </a:solidFill>
                <a:latin typeface="Tahoma"/>
              </a:rPr>
              <a:t>"You have agency. Don't sit around waiting for someone else to fix things."</a:t>
            </a:r>
          </a:p>
          <a:p>
            <a:pPr>
              <a:spcBef>
                <a:spcPts val="800"/>
              </a:spcBef>
            </a:pPr>
            <a:r>
              <a:rPr sz="1400">
                <a:solidFill>
                  <a:srgbClr val="1F1F1F"/>
                </a:solidFill>
                <a:latin typeface="Tahoma"/>
              </a:rPr>
              <a:t>นิสิตไม่ใช่แค่ “ลูกจ้าง” ที่รอ assignment — เป็นเจ้าของผลงาน ตัดสินใจ เสนอทางเลือก</a:t>
            </a:r>
          </a:p>
        </p:txBody>
      </p:sp>
      <p:sp>
        <p:nvSpPr>
          <p:cNvPr id="5" name="Rounded Rectangle 4"/>
          <p:cNvSpPr/>
          <p:nvPr/>
        </p:nvSpPr>
        <p:spPr>
          <a:xfrm>
            <a:off x="640080" y="3840480"/>
            <a:ext cx="10881360" cy="2103120"/>
          </a:xfrm>
          <a:prstGeom prst="roundRect">
            <a:avLst/>
          </a:prstGeom>
          <a:solidFill>
            <a:srgbClr val="FCE4D6"/>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r>
              <a:rPr sz="1800" i="0" b="1">
                <a:solidFill>
                  <a:srgbClr val="C00000"/>
                </a:solidFill>
                <a:latin typeface="Tahoma"/>
              </a:rPr>
              <a:t>Tip 4 — Provide Options, Don't Make Lame Excuses</a:t>
            </a:r>
          </a:p>
          <a:p>
            <a:r>
              <a:rPr sz="1500" i="1">
                <a:solidFill>
                  <a:srgbClr val="1F1F1F"/>
                </a:solidFill>
                <a:latin typeface="Tahoma"/>
              </a:rPr>
              <a:t>"When you find yourself in a jam — come up with a list of options and present them."</a:t>
            </a:r>
          </a:p>
          <a:p>
            <a:pPr>
              <a:spcBef>
                <a:spcPts val="800"/>
              </a:spcBef>
            </a:pPr>
            <a:r>
              <a:rPr sz="1400">
                <a:solidFill>
                  <a:srgbClr val="1F1F1F"/>
                </a:solidFill>
                <a:latin typeface="Tahoma"/>
              </a:rPr>
              <a:t>❌ "แมวกิน source code"   vs   ✅ "ขอเลื่อน release 3 วัน + เพิ่ม backup ทุก commit"</a:t>
            </a:r>
          </a:p>
        </p:txBody>
      </p:sp>
      <p:sp>
        <p:nvSpPr>
          <p:cNvPr id="6" name="TextBox 5"/>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7" name="TextBox 6"/>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Broken Windows &amp; Software Entropy</a:t>
            </a:r>
          </a:p>
        </p:txBody>
      </p:sp>
      <p:sp>
        <p:nvSpPr>
          <p:cNvPr id="3" name="TextBox 2"/>
          <p:cNvSpPr txBox="1"/>
          <p:nvPr/>
        </p:nvSpPr>
        <p:spPr>
          <a:xfrm>
            <a:off x="457200" y="868680"/>
            <a:ext cx="11247120" cy="365760"/>
          </a:xfrm>
          <a:prstGeom prst="rect">
            <a:avLst/>
          </a:prstGeom>
          <a:noFill/>
        </p:spPr>
        <p:txBody>
          <a:bodyPr wrap="square" anchor="t">
            <a:spAutoFit/>
          </a:bodyPr>
          <a:lstStyle/>
          <a:p>
            <a:pPr algn="l"/>
            <a:r>
              <a:rPr sz="1600" b="0" i="1">
                <a:solidFill>
                  <a:srgbClr val="595959"/>
                </a:solidFill>
                <a:latin typeface="Tahoma"/>
              </a:rPr>
              <a:t>⭐ concept ที่ทรงพลังที่สุดจาก PP</a:t>
            </a:r>
          </a:p>
        </p:txBody>
      </p:sp>
      <p:sp>
        <p:nvSpPr>
          <p:cNvPr id="4" name="Rectangle 3"/>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63040"/>
            <a:ext cx="5669280" cy="4114800"/>
          </a:xfrm>
          <a:prstGeom prst="roundRect">
            <a:avLst/>
          </a:prstGeom>
          <a:solidFill>
            <a:srgbClr val="F2F2F2"/>
          </a:solidFill>
          <a:ln w="19050">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r>
              <a:rPr sz="1400" i="0" b="1">
                <a:solidFill>
                  <a:srgbClr val="1F4E79"/>
                </a:solidFill>
                <a:latin typeface="Tahoma"/>
              </a:rPr>
              <a:t>Wilson &amp; Kelling (1982)</a:t>
            </a:r>
          </a:p>
          <a:p>
            <a:pPr>
              <a:spcAft>
                <a:spcPts val="200"/>
              </a:spcAft>
            </a:pPr>
            <a:r>
              <a:rPr sz="1400">
                <a:solidFill>
                  <a:srgbClr val="1F1F1F"/>
                </a:solidFill>
                <a:latin typeface="Tahoma"/>
              </a:rPr>
              <a:t>ทฤษฎีอาชญากรรม (The Atlantic)</a:t>
            </a:r>
          </a:p>
          <a:p>
            <a:pPr>
              <a:spcAft>
                <a:spcPts val="200"/>
              </a:spcAft>
            </a:pPr>
            <a:r>
              <a:rPr sz="1400">
                <a:solidFill>
                  <a:srgbClr val="1F1F1F"/>
                </a:solidFill>
                <a:latin typeface="Tahoma"/>
              </a:rPr>
              <a:t/>
            </a:r>
          </a:p>
          <a:p>
            <a:pPr>
              <a:spcAft>
                <a:spcPts val="200"/>
              </a:spcAft>
            </a:pPr>
            <a:r>
              <a:rPr sz="1400">
                <a:solidFill>
                  <a:srgbClr val="1F1F1F"/>
                </a:solidFill>
                <a:latin typeface="Tahoma"/>
              </a:rPr>
              <a:t>อาคารที่มีหน้าต่างแตก 1 บาน</a:t>
            </a:r>
          </a:p>
          <a:p>
            <a:pPr>
              <a:spcAft>
                <a:spcPts val="200"/>
              </a:spcAft>
            </a:pPr>
            <a:r>
              <a:rPr sz="1400">
                <a:solidFill>
                  <a:srgbClr val="1F1F1F"/>
                </a:solidFill>
                <a:latin typeface="Tahoma"/>
              </a:rPr>
              <a:t>→ จะถูกทำลายเพิ่มอย่างรวดเร็ว</a:t>
            </a:r>
          </a:p>
          <a:p>
            <a:pPr>
              <a:spcAft>
                <a:spcPts val="200"/>
              </a:spcAft>
            </a:pPr>
            <a:r>
              <a:rPr sz="1400">
                <a:solidFill>
                  <a:srgbClr val="1F1F1F"/>
                </a:solidFill>
                <a:latin typeface="Tahoma"/>
              </a:rPr>
              <a:t/>
            </a:r>
          </a:p>
          <a:p>
            <a:pPr>
              <a:spcAft>
                <a:spcPts val="200"/>
              </a:spcAft>
            </a:pPr>
            <a:r>
              <a:rPr sz="1400">
                <a:solidFill>
                  <a:srgbClr val="1F1F1F"/>
                </a:solidFill>
                <a:latin typeface="Tahoma"/>
              </a:rPr>
              <a:t>เพราะผู้คนตีความว่า:</a:t>
            </a:r>
          </a:p>
          <a:p>
            <a:pPr>
              <a:spcAft>
                <a:spcPts val="200"/>
              </a:spcAft>
            </a:pPr>
            <a:r>
              <a:rPr sz="1400">
                <a:solidFill>
                  <a:srgbClr val="1F1F1F"/>
                </a:solidFill>
                <a:latin typeface="Tahoma"/>
              </a:rPr>
              <a:t>"ไม่มีใครสนใจอาคารนี้"</a:t>
            </a:r>
          </a:p>
          <a:p>
            <a:pPr>
              <a:spcAft>
                <a:spcPts val="200"/>
              </a:spcAft>
            </a:pPr>
            <a:r>
              <a:rPr sz="1400">
                <a:solidFill>
                  <a:srgbClr val="1F1F1F"/>
                </a:solidFill>
                <a:latin typeface="Tahoma"/>
              </a:rPr>
              <a:t/>
            </a:r>
          </a:p>
          <a:p>
            <a:pPr>
              <a:spcAft>
                <a:spcPts val="200"/>
              </a:spcAft>
            </a:pPr>
            <a:r>
              <a:rPr sz="1400">
                <a:solidFill>
                  <a:srgbClr val="1F1F1F"/>
                </a:solidFill>
                <a:latin typeface="Tahoma"/>
              </a:rPr>
              <a:t>→ visible disorder ชวนให้เกิด disorder เพิ่ม</a:t>
            </a:r>
          </a:p>
          <a:p>
            <a:pPr>
              <a:spcAft>
                <a:spcPts val="200"/>
              </a:spcAft>
            </a:pPr>
            <a:r>
              <a:rPr sz="1400">
                <a:solidFill>
                  <a:srgbClr val="1F1F1F"/>
                </a:solidFill>
                <a:latin typeface="Tahoma"/>
              </a:rPr>
              <a:t>→ exponential ไม่ใช่ linear</a:t>
            </a:r>
          </a:p>
        </p:txBody>
      </p:sp>
      <p:sp>
        <p:nvSpPr>
          <p:cNvPr id="6" name="Rounded Rectangle 5"/>
          <p:cNvSpPr/>
          <p:nvPr/>
        </p:nvSpPr>
        <p:spPr>
          <a:xfrm>
            <a:off x="6400800" y="1463040"/>
            <a:ext cx="5486400" cy="4114800"/>
          </a:xfrm>
          <a:prstGeom prst="roundRect">
            <a:avLst/>
          </a:prstGeom>
          <a:solidFill>
            <a:srgbClr val="FCE4D6"/>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r>
              <a:rPr sz="1400" i="0" b="1">
                <a:solidFill>
                  <a:srgbClr val="C00000"/>
                </a:solidFill>
                <a:latin typeface="Tahoma"/>
              </a:rPr>
              <a:t>Tip 5 — Don't Live with Broken Windows</a:t>
            </a:r>
          </a:p>
          <a:p>
            <a:pPr>
              <a:spcAft>
                <a:spcPts val="200"/>
              </a:spcAft>
            </a:pPr>
            <a:r>
              <a:rPr sz="1300">
                <a:solidFill>
                  <a:srgbClr val="1F1F1F"/>
                </a:solidFill>
                <a:latin typeface="Tahoma"/>
              </a:rPr>
              <a:t>Hunt &amp; Thomas (2019) ขยายสู่ software:</a:t>
            </a:r>
          </a:p>
          <a:p>
            <a:pPr>
              <a:spcAft>
                <a:spcPts val="200"/>
              </a:spcAft>
            </a:pPr>
            <a:r>
              <a:rPr sz="1300">
                <a:solidFill>
                  <a:srgbClr val="1F1F1F"/>
                </a:solidFill>
                <a:latin typeface="Tahoma"/>
              </a:rPr>
              <a:t/>
            </a:r>
          </a:p>
          <a:p>
            <a:pPr>
              <a:spcAft>
                <a:spcPts val="200"/>
              </a:spcAft>
            </a:pPr>
            <a:r>
              <a:rPr sz="1300">
                <a:solidFill>
                  <a:srgbClr val="1F1F1F"/>
                </a:solidFill>
                <a:latin typeface="Tahoma"/>
              </a:rPr>
              <a:t>Don't leave "broken windows"</a:t>
            </a:r>
          </a:p>
          <a:p>
            <a:pPr>
              <a:spcAft>
                <a:spcPts val="200"/>
              </a:spcAft>
            </a:pPr>
            <a:r>
              <a:rPr sz="1300">
                <a:solidFill>
                  <a:srgbClr val="1F1F1F"/>
                </a:solidFill>
                <a:latin typeface="Tahoma"/>
              </a:rPr>
              <a:t>(bad designs, wrong decisions, poor code)</a:t>
            </a:r>
          </a:p>
          <a:p>
            <a:pPr>
              <a:spcAft>
                <a:spcPts val="200"/>
              </a:spcAft>
            </a:pPr>
            <a:r>
              <a:rPr sz="1300">
                <a:solidFill>
                  <a:srgbClr val="1F1F1F"/>
                </a:solidFill>
                <a:latin typeface="Tahoma"/>
              </a:rPr>
              <a:t>unrepaired.</a:t>
            </a:r>
          </a:p>
          <a:p>
            <a:pPr>
              <a:spcAft>
                <a:spcPts val="200"/>
              </a:spcAft>
            </a:pPr>
            <a:r>
              <a:rPr sz="1300">
                <a:solidFill>
                  <a:srgbClr val="1F1F1F"/>
                </a:solidFill>
                <a:latin typeface="Tahoma"/>
              </a:rPr>
              <a:t>Fix each one as soon as discovered.</a:t>
            </a:r>
          </a:p>
          <a:p>
            <a:pPr>
              <a:spcAft>
                <a:spcPts val="200"/>
              </a:spcAft>
            </a:pPr>
            <a:r>
              <a:rPr sz="1300">
                <a:solidFill>
                  <a:srgbClr val="1F1F1F"/>
                </a:solidFill>
                <a:latin typeface="Tahoma"/>
              </a:rPr>
              <a:t/>
            </a:r>
          </a:p>
          <a:p>
            <a:pPr>
              <a:spcAft>
                <a:spcPts val="200"/>
              </a:spcAft>
            </a:pPr>
            <a:r>
              <a:rPr sz="1300">
                <a:solidFill>
                  <a:srgbClr val="1F1F1F"/>
                </a:solidFill>
                <a:latin typeface="Tahoma"/>
              </a:rPr>
              <a:t>ในทีมสมัยใหม่:</a:t>
            </a:r>
          </a:p>
          <a:p>
            <a:pPr>
              <a:spcAft>
                <a:spcPts val="200"/>
              </a:spcAft>
            </a:pPr>
            <a:r>
              <a:rPr sz="1300">
                <a:solidFill>
                  <a:srgbClr val="1F1F1F"/>
                </a:solidFill>
                <a:latin typeface="Tahoma"/>
              </a:rPr>
              <a:t>• หนึ่งบานของ bug = เกิดอีก 5 บาน</a:t>
            </a:r>
          </a:p>
          <a:p>
            <a:pPr>
              <a:spcAft>
                <a:spcPts val="200"/>
              </a:spcAft>
            </a:pPr>
            <a:r>
              <a:rPr sz="1300">
                <a:solidFill>
                  <a:srgbClr val="1F1F1F"/>
                </a:solidFill>
                <a:latin typeface="Tahoma"/>
              </a:rPr>
              <a:t>• test ที่ขึ้นแดง = ต้องแก้ก่อน merge</a:t>
            </a:r>
          </a:p>
          <a:p>
            <a:pPr>
              <a:spcAft>
                <a:spcPts val="200"/>
              </a:spcAft>
            </a:pPr>
            <a:r>
              <a:rPr sz="1300">
                <a:solidFill>
                  <a:srgbClr val="1F1F1F"/>
                </a:solidFill>
                <a:latin typeface="Tahoma"/>
              </a:rPr>
              <a:t>• hack เพื่อส่งทัน = ต้นเหตุของ rot</a:t>
            </a:r>
          </a:p>
        </p:txBody>
      </p:sp>
      <p:sp>
        <p:nvSpPr>
          <p:cNvPr id="7" name="TextBox 6"/>
          <p:cNvSpPr txBox="1"/>
          <p:nvPr/>
        </p:nvSpPr>
        <p:spPr>
          <a:xfrm>
            <a:off x="457200" y="5760720"/>
            <a:ext cx="11430000" cy="365760"/>
          </a:xfrm>
          <a:prstGeom prst="rect">
            <a:avLst/>
          </a:prstGeom>
          <a:noFill/>
        </p:spPr>
        <p:txBody>
          <a:bodyPr wrap="square" anchor="t">
            <a:spAutoFit/>
          </a:bodyPr>
          <a:lstStyle/>
          <a:p>
            <a:pPr algn="ctr"/>
            <a:r>
              <a:rPr sz="1400" b="1" i="1">
                <a:solidFill>
                  <a:srgbClr val="BF9000"/>
                </a:solidFill>
                <a:latin typeface="Tahoma"/>
              </a:rPr>
              <a:t>ใช้ได้ในทุก phase: code, design, process, culture</a:t>
            </a:r>
          </a:p>
        </p:txBody>
      </p:sp>
      <p:sp>
        <p:nvSpPr>
          <p:cNvPr id="8" name="TextBox 7"/>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9" name="TextBox 8"/>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กรณีศึกษา: หน้าต่างบานเดียวที่กลายเป็นพายุ</a:t>
            </a:r>
          </a:p>
        </p:txBody>
      </p:sp>
      <p:sp>
        <p:nvSpPr>
          <p:cNvPr id="3" name="Rectangle 2"/>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17320"/>
            <a:ext cx="11247120" cy="365760"/>
          </a:xfrm>
          <a:prstGeom prst="rect">
            <a:avLst/>
          </a:prstGeom>
          <a:noFill/>
        </p:spPr>
        <p:txBody>
          <a:bodyPr wrap="square" anchor="t">
            <a:spAutoFit/>
          </a:bodyPr>
          <a:lstStyle/>
          <a:p>
            <a:pPr algn="ctr"/>
            <a:r>
              <a:rPr sz="1600" b="0" i="1">
                <a:solidFill>
                  <a:srgbClr val="595959"/>
                </a:solidFill>
                <a:latin typeface="Tahoma"/>
              </a:rPr>
              <a:t>calculateTax(amount) ในสตาร์ทอัพแห่งหนึ่ง</a:t>
            </a:r>
          </a:p>
        </p:txBody>
      </p:sp>
      <p:sp>
        <p:nvSpPr>
          <p:cNvPr id="5" name="Oval 4"/>
          <p:cNvSpPr/>
          <p:nvPr/>
        </p:nvSpPr>
        <p:spPr>
          <a:xfrm>
            <a:off x="640080" y="1965960"/>
            <a:ext cx="365760" cy="36576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828800"/>
            <a:ext cx="2286000" cy="548640"/>
          </a:xfrm>
          <a:prstGeom prst="rect">
            <a:avLst/>
          </a:prstGeom>
          <a:noFill/>
        </p:spPr>
        <p:txBody>
          <a:bodyPr wrap="square" anchor="t">
            <a:spAutoFit/>
          </a:bodyPr>
          <a:lstStyle/>
          <a:p>
            <a:pPr algn="l"/>
            <a:r>
              <a:rPr sz="1800" b="1" i="0">
                <a:solidFill>
                  <a:srgbClr val="1F4E79"/>
                </a:solidFill>
                <a:latin typeface="Tahoma"/>
              </a:rPr>
              <a:t>สัปดาห์ 0</a:t>
            </a:r>
          </a:p>
        </p:txBody>
      </p:sp>
      <p:sp>
        <p:nvSpPr>
          <p:cNvPr id="7" name="TextBox 6"/>
          <p:cNvSpPr txBox="1"/>
          <p:nvPr/>
        </p:nvSpPr>
        <p:spPr>
          <a:xfrm>
            <a:off x="3657600" y="1874519"/>
            <a:ext cx="8229600" cy="457200"/>
          </a:xfrm>
          <a:prstGeom prst="rect">
            <a:avLst/>
          </a:prstGeom>
          <a:noFill/>
        </p:spPr>
        <p:txBody>
          <a:bodyPr wrap="square" anchor="t">
            <a:spAutoFit/>
          </a:bodyPr>
          <a:lstStyle/>
          <a:p>
            <a:pPr algn="l"/>
            <a:r>
              <a:rPr sz="1500" b="0" i="0">
                <a:solidFill>
                  <a:srgbClr val="1F1F1F"/>
                </a:solidFill>
                <a:latin typeface="Tahoma"/>
              </a:rPr>
              <a:t>พบ bug: คำนวณภาษีผิดเมื่อ amount = 0</a:t>
            </a:r>
          </a:p>
        </p:txBody>
      </p:sp>
      <p:sp>
        <p:nvSpPr>
          <p:cNvPr id="8" name="Oval 7"/>
          <p:cNvSpPr/>
          <p:nvPr/>
        </p:nvSpPr>
        <p:spPr>
          <a:xfrm>
            <a:off x="640080" y="2834640"/>
            <a:ext cx="365760" cy="365760"/>
          </a:xfrm>
          <a:prstGeom prst="ellipse">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697480"/>
            <a:ext cx="2286000" cy="548640"/>
          </a:xfrm>
          <a:prstGeom prst="rect">
            <a:avLst/>
          </a:prstGeom>
          <a:noFill/>
        </p:spPr>
        <p:txBody>
          <a:bodyPr wrap="square" anchor="t">
            <a:spAutoFit/>
          </a:bodyPr>
          <a:lstStyle/>
          <a:p>
            <a:pPr algn="l"/>
            <a:r>
              <a:rPr sz="1800" b="1" i="0">
                <a:solidFill>
                  <a:srgbClr val="1F1F1F"/>
                </a:solidFill>
                <a:latin typeface="Tahoma"/>
              </a:rPr>
              <a:t>สัปดาห์ 2</a:t>
            </a:r>
          </a:p>
        </p:txBody>
      </p:sp>
      <p:sp>
        <p:nvSpPr>
          <p:cNvPr id="10" name="TextBox 9"/>
          <p:cNvSpPr txBox="1"/>
          <p:nvPr/>
        </p:nvSpPr>
        <p:spPr>
          <a:xfrm>
            <a:off x="3657600" y="2743200"/>
            <a:ext cx="8229600" cy="457200"/>
          </a:xfrm>
          <a:prstGeom prst="rect">
            <a:avLst/>
          </a:prstGeom>
          <a:noFill/>
        </p:spPr>
        <p:txBody>
          <a:bodyPr wrap="square" anchor="t">
            <a:spAutoFit/>
          </a:bodyPr>
          <a:lstStyle/>
          <a:p>
            <a:pPr algn="l"/>
            <a:r>
              <a:rPr sz="1500" b="0" i="0">
                <a:solidFill>
                  <a:srgbClr val="1F1F1F"/>
                </a:solidFill>
                <a:latin typeface="Tahoma"/>
              </a:rPr>
              <a:t>น้องใหม่คัดลอก pattern ที่ผิดไปใช้ที่อื่น (3 จุด)</a:t>
            </a:r>
          </a:p>
        </p:txBody>
      </p:sp>
      <p:sp>
        <p:nvSpPr>
          <p:cNvPr id="11" name="Oval 10"/>
          <p:cNvSpPr/>
          <p:nvPr/>
        </p:nvSpPr>
        <p:spPr>
          <a:xfrm>
            <a:off x="640080" y="3703320"/>
            <a:ext cx="365760" cy="365760"/>
          </a:xfrm>
          <a:prstGeom prst="ellipse">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3566160"/>
            <a:ext cx="2286000" cy="548640"/>
          </a:xfrm>
          <a:prstGeom prst="rect">
            <a:avLst/>
          </a:prstGeom>
          <a:noFill/>
        </p:spPr>
        <p:txBody>
          <a:bodyPr wrap="square" anchor="t">
            <a:spAutoFit/>
          </a:bodyPr>
          <a:lstStyle/>
          <a:p>
            <a:pPr algn="l"/>
            <a:r>
              <a:rPr sz="1800" b="1" i="0">
                <a:solidFill>
                  <a:srgbClr val="1F1F1F"/>
                </a:solidFill>
                <a:latin typeface="Tahoma"/>
              </a:rPr>
              <a:t>สัปดาห์ 4</a:t>
            </a:r>
          </a:p>
        </p:txBody>
      </p:sp>
      <p:sp>
        <p:nvSpPr>
          <p:cNvPr id="13" name="TextBox 12"/>
          <p:cNvSpPr txBox="1"/>
          <p:nvPr/>
        </p:nvSpPr>
        <p:spPr>
          <a:xfrm>
            <a:off x="3657600" y="3611880"/>
            <a:ext cx="8229600" cy="457200"/>
          </a:xfrm>
          <a:prstGeom prst="rect">
            <a:avLst/>
          </a:prstGeom>
          <a:noFill/>
        </p:spPr>
        <p:txBody>
          <a:bodyPr wrap="square" anchor="t">
            <a:spAutoFit/>
          </a:bodyPr>
          <a:lstStyle/>
          <a:p>
            <a:pPr algn="l"/>
            <a:r>
              <a:rPr sz="1500" b="0" i="0">
                <a:solidFill>
                  <a:srgbClr val="1F1F1F"/>
                </a:solidFill>
                <a:latin typeface="Tahoma"/>
              </a:rPr>
              <a:t>ระบบคำนวณภาษีผิด 17 จุดทั่วระบบ</a:t>
            </a:r>
          </a:p>
        </p:txBody>
      </p:sp>
      <p:sp>
        <p:nvSpPr>
          <p:cNvPr id="14" name="Oval 13"/>
          <p:cNvSpPr/>
          <p:nvPr/>
        </p:nvSpPr>
        <p:spPr>
          <a:xfrm>
            <a:off x="640080" y="4572000"/>
            <a:ext cx="365760" cy="36576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4434840"/>
            <a:ext cx="2286000" cy="548640"/>
          </a:xfrm>
          <a:prstGeom prst="rect">
            <a:avLst/>
          </a:prstGeom>
          <a:noFill/>
        </p:spPr>
        <p:txBody>
          <a:bodyPr wrap="square" anchor="t">
            <a:spAutoFit/>
          </a:bodyPr>
          <a:lstStyle/>
          <a:p>
            <a:pPr algn="l"/>
            <a:r>
              <a:rPr sz="1800" b="1" i="0">
                <a:solidFill>
                  <a:srgbClr val="C00000"/>
                </a:solidFill>
                <a:latin typeface="Tahoma"/>
              </a:rPr>
              <a:t>สัปดาห์ 7</a:t>
            </a:r>
          </a:p>
        </p:txBody>
      </p:sp>
      <p:sp>
        <p:nvSpPr>
          <p:cNvPr id="16" name="TextBox 15"/>
          <p:cNvSpPr txBox="1"/>
          <p:nvPr/>
        </p:nvSpPr>
        <p:spPr>
          <a:xfrm>
            <a:off x="3657600" y="4480560"/>
            <a:ext cx="8229600" cy="457200"/>
          </a:xfrm>
          <a:prstGeom prst="rect">
            <a:avLst/>
          </a:prstGeom>
          <a:noFill/>
        </p:spPr>
        <p:txBody>
          <a:bodyPr wrap="square" anchor="t">
            <a:spAutoFit/>
          </a:bodyPr>
          <a:lstStyle/>
          <a:p>
            <a:pPr algn="l"/>
            <a:r>
              <a:rPr sz="1500" b="0" i="0">
                <a:solidFill>
                  <a:srgbClr val="1F1F1F"/>
                </a:solidFill>
                <a:latin typeface="Tahoma"/>
              </a:rPr>
              <a:t>ใช้เวลา 3 สัปดาห์ในการ refactor + audit ทั้งหมด</a:t>
            </a:r>
          </a:p>
        </p:txBody>
      </p:sp>
      <p:sp>
        <p:nvSpPr>
          <p:cNvPr id="17" name="TextBox 16"/>
          <p:cNvSpPr txBox="1"/>
          <p:nvPr/>
        </p:nvSpPr>
        <p:spPr>
          <a:xfrm>
            <a:off x="457200" y="5943600"/>
            <a:ext cx="11430000" cy="365760"/>
          </a:xfrm>
          <a:prstGeom prst="rect">
            <a:avLst/>
          </a:prstGeom>
          <a:noFill/>
        </p:spPr>
        <p:txBody>
          <a:bodyPr wrap="square" anchor="t">
            <a:spAutoFit/>
          </a:bodyPr>
          <a:lstStyle/>
          <a:p>
            <a:pPr algn="ctr"/>
            <a:r>
              <a:rPr sz="1500" b="1" i="1">
                <a:solidFill>
                  <a:srgbClr val="C00000"/>
                </a:solidFill>
                <a:latin typeface="Tahoma"/>
              </a:rPr>
              <a:t>ต้นทุน 3 สัปดาห์จาก 1 window ที่ไม่ได้ซ่อม — ถ้าซ่อมทันที ใช้แค่ 30 นาที</a:t>
            </a:r>
          </a:p>
        </p:txBody>
      </p:sp>
      <p:sp>
        <p:nvSpPr>
          <p:cNvPr id="18" name="TextBox 17"/>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19" name="TextBox 18"/>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Tip 6 &amp; 7 — Stone Soup &amp; Boiled Frog</a:t>
            </a:r>
          </a:p>
        </p:txBody>
      </p:sp>
      <p:sp>
        <p:nvSpPr>
          <p:cNvPr id="3" name="Rectangle 2"/>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463040"/>
            <a:ext cx="5669280" cy="43891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r>
              <a:rPr sz="1400" i="0" b="1">
                <a:solidFill>
                  <a:srgbClr val="BF9000"/>
                </a:solidFill>
                <a:latin typeface="Tahoma"/>
              </a:rPr>
              <a:t>Tip 6 — Be a Catalyst for Change (Stone Soup)</a:t>
            </a:r>
          </a:p>
          <a:p>
            <a:pPr>
              <a:spcAft>
                <a:spcPts val="300"/>
              </a:spcAft>
            </a:pPr>
            <a:r>
              <a:rPr sz="1300">
                <a:solidFill>
                  <a:srgbClr val="1F1F1F"/>
                </a:solidFill>
                <a:latin typeface="Tahoma"/>
              </a:rPr>
              <a:t>เรื่อง: ทหารหลอกชาวบ้านทำซุป</a:t>
            </a:r>
          </a:p>
          <a:p>
            <a:pPr>
              <a:spcAft>
                <a:spcPts val="300"/>
              </a:spcAft>
            </a:pPr>
            <a:r>
              <a:rPr sz="1300">
                <a:solidFill>
                  <a:srgbClr val="1F1F1F"/>
                </a:solidFill>
                <a:latin typeface="Tahoma"/>
              </a:rPr>
              <a:t>โยนก้อนหินลงหม้อ → คนเพิ่มแครอท → คนเพิ่มหัวหอม</a:t>
            </a:r>
          </a:p>
          <a:p>
            <a:pPr>
              <a:spcAft>
                <a:spcPts val="300"/>
              </a:spcAft>
            </a:pPr>
            <a:r>
              <a:rPr sz="1300">
                <a:solidFill>
                  <a:srgbClr val="1F1F1F"/>
                </a:solidFill>
                <a:latin typeface="Tahoma"/>
              </a:rPr>
              <a:t>→ สุดท้ายทหารดึงหินออก ได้ซุปจากทุกคน</a:t>
            </a:r>
          </a:p>
          <a:p>
            <a:pPr>
              <a:spcAft>
                <a:spcPts val="300"/>
              </a:spcAft>
            </a:pPr>
            <a:r>
              <a:rPr sz="1300">
                <a:solidFill>
                  <a:srgbClr val="1F1F1F"/>
                </a:solidFill>
                <a:latin typeface="Tahoma"/>
              </a:rPr>
              <a:t/>
            </a:r>
          </a:p>
          <a:p>
            <a:pPr>
              <a:spcAft>
                <a:spcPts val="300"/>
              </a:spcAft>
            </a:pPr>
            <a:r>
              <a:rPr sz="1300">
                <a:solidFill>
                  <a:srgbClr val="1F1F1F"/>
                </a:solidFill>
                <a:latin typeface="Tahoma"/>
              </a:rPr>
              <a:t>ในทีม:</a:t>
            </a:r>
          </a:p>
          <a:p>
            <a:pPr>
              <a:spcAft>
                <a:spcPts val="300"/>
              </a:spcAft>
            </a:pPr>
            <a:r>
              <a:rPr sz="1300">
                <a:solidFill>
                  <a:srgbClr val="1F1F1F"/>
                </a:solidFill>
                <a:latin typeface="Tahoma"/>
              </a:rPr>
              <a:t>• เริ่มจากชิ้นเล็กที่ทำได้</a:t>
            </a:r>
          </a:p>
          <a:p>
            <a:pPr>
              <a:spcAft>
                <a:spcPts val="300"/>
              </a:spcAft>
            </a:pPr>
            <a:r>
              <a:rPr sz="1300">
                <a:solidFill>
                  <a:srgbClr val="1F1F1F"/>
                </a:solidFill>
                <a:latin typeface="Tahoma"/>
              </a:rPr>
              <a:t>• แสดงผลจริง</a:t>
            </a:r>
          </a:p>
          <a:p>
            <a:pPr>
              <a:spcAft>
                <a:spcPts val="300"/>
              </a:spcAft>
            </a:pPr>
            <a:r>
              <a:rPr sz="1300">
                <a:solidFill>
                  <a:srgbClr val="1F1F1F"/>
                </a:solidFill>
                <a:latin typeface="Tahoma"/>
              </a:rPr>
              <a:t>• ให้คนอื่นขอเพิ่มเอง</a:t>
            </a:r>
          </a:p>
          <a:p>
            <a:pPr>
              <a:spcAft>
                <a:spcPts val="300"/>
              </a:spcAft>
            </a:pPr>
            <a:r>
              <a:rPr sz="1300">
                <a:solidFill>
                  <a:srgbClr val="1F1F1F"/>
                </a:solidFill>
                <a:latin typeface="Tahoma"/>
              </a:rPr>
              <a:t/>
            </a:r>
          </a:p>
          <a:p>
            <a:pPr>
              <a:spcAft>
                <a:spcPts val="300"/>
              </a:spcAft>
            </a:pPr>
            <a:r>
              <a:rPr sz="1300">
                <a:solidFill>
                  <a:srgbClr val="1F1F1F"/>
                </a:solidFill>
                <a:latin typeface="Tahoma"/>
              </a:rPr>
              <a:t>❌ อย่าเสนอ big bang reform ทันที</a:t>
            </a:r>
          </a:p>
        </p:txBody>
      </p:sp>
      <p:sp>
        <p:nvSpPr>
          <p:cNvPr id="5" name="Rounded Rectangle 4"/>
          <p:cNvSpPr/>
          <p:nvPr/>
        </p:nvSpPr>
        <p:spPr>
          <a:xfrm>
            <a:off x="6309360" y="1463040"/>
            <a:ext cx="5486400" cy="4389120"/>
          </a:xfrm>
          <a:prstGeom prst="roundRect">
            <a:avLst/>
          </a:prstGeom>
          <a:solidFill>
            <a:srgbClr val="FCE4D6"/>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r>
              <a:rPr sz="1400" i="0" b="1">
                <a:solidFill>
                  <a:srgbClr val="C00000"/>
                </a:solidFill>
                <a:latin typeface="Tahoma"/>
              </a:rPr>
              <a:t>Tip 7 — Remember the Big Picture (Boiled Frog)</a:t>
            </a:r>
          </a:p>
          <a:p>
            <a:pPr>
              <a:spcAft>
                <a:spcPts val="300"/>
              </a:spcAft>
            </a:pPr>
            <a:r>
              <a:rPr sz="1300">
                <a:solidFill>
                  <a:srgbClr val="1F1F1F"/>
                </a:solidFill>
                <a:latin typeface="Tahoma"/>
              </a:rPr>
              <a:t>กบในหม้อน้ำอุ่น ไม่รู้ตัวว่าน้ำกำลังร้อนขึ้น</a:t>
            </a:r>
          </a:p>
          <a:p>
            <a:pPr>
              <a:spcAft>
                <a:spcPts val="300"/>
              </a:spcAft>
            </a:pPr>
            <a:r>
              <a:rPr sz="1300">
                <a:solidFill>
                  <a:srgbClr val="1F1F1F"/>
                </a:solidFill>
                <a:latin typeface="Tahoma"/>
              </a:rPr>
              <a:t/>
            </a:r>
          </a:p>
          <a:p>
            <a:pPr>
              <a:spcAft>
                <a:spcPts val="300"/>
              </a:spcAft>
            </a:pPr>
            <a:r>
              <a:rPr sz="1300">
                <a:solidFill>
                  <a:srgbClr val="1F1F1F"/>
                </a:solidFill>
                <a:latin typeface="Tahoma"/>
              </a:rPr>
              <a:t>ในทีม:</a:t>
            </a:r>
          </a:p>
          <a:p>
            <a:pPr>
              <a:spcAft>
                <a:spcPts val="300"/>
              </a:spcAft>
            </a:pPr>
            <a:r>
              <a:rPr sz="1300">
                <a:solidFill>
                  <a:srgbClr val="1F1F1F"/>
                </a:solidFill>
                <a:latin typeface="Tahoma"/>
              </a:rPr>
              <a:t>• feature creep ทีละนิด</a:t>
            </a:r>
          </a:p>
          <a:p>
            <a:pPr>
              <a:spcAft>
                <a:spcPts val="300"/>
              </a:spcAft>
            </a:pPr>
            <a:r>
              <a:rPr sz="1300">
                <a:solidFill>
                  <a:srgbClr val="1F1F1F"/>
                </a:solidFill>
                <a:latin typeface="Tahoma"/>
              </a:rPr>
              <a:t>• test coverage ลดลงเรื่อย ๆ</a:t>
            </a:r>
          </a:p>
          <a:p>
            <a:pPr>
              <a:spcAft>
                <a:spcPts val="300"/>
              </a:spcAft>
            </a:pPr>
            <a:r>
              <a:rPr sz="1300">
                <a:solidFill>
                  <a:srgbClr val="1F1F1F"/>
                </a:solidFill>
                <a:latin typeface="Tahoma"/>
              </a:rPr>
              <a:t>• hack สะสมเรื่อย ๆ</a:t>
            </a:r>
          </a:p>
          <a:p>
            <a:pPr>
              <a:spcAft>
                <a:spcPts val="300"/>
              </a:spcAft>
            </a:pPr>
            <a:r>
              <a:rPr sz="1300">
                <a:solidFill>
                  <a:srgbClr val="1F1F1F"/>
                </a:solidFill>
                <a:latin typeface="Tahoma"/>
              </a:rPr>
              <a:t>• "ขอ postpone แค่ sprint นี้นะ"</a:t>
            </a:r>
          </a:p>
          <a:p>
            <a:pPr>
              <a:spcAft>
                <a:spcPts val="300"/>
              </a:spcAft>
            </a:pPr>
            <a:r>
              <a:rPr sz="1300">
                <a:solidFill>
                  <a:srgbClr val="1F1F1F"/>
                </a:solidFill>
                <a:latin typeface="Tahoma"/>
              </a:rPr>
              <a:t/>
            </a:r>
          </a:p>
          <a:p>
            <a:pPr>
              <a:spcAft>
                <a:spcPts val="300"/>
              </a:spcAft>
            </a:pPr>
            <a:r>
              <a:rPr sz="1300">
                <a:solidFill>
                  <a:srgbClr val="1F1F1F"/>
                </a:solidFill>
                <a:latin typeface="Tahoma"/>
              </a:rPr>
              <a:t>สัญญาณ: มาตรฐานค่อย ๆ ตก</a:t>
            </a:r>
          </a:p>
          <a:p>
            <a:pPr>
              <a:spcAft>
                <a:spcPts val="300"/>
              </a:spcAft>
            </a:pPr>
            <a:r>
              <a:rPr sz="1300">
                <a:solidFill>
                  <a:srgbClr val="1F1F1F"/>
                </a:solidFill>
                <a:latin typeface="Tahoma"/>
              </a:rPr>
              <a:t>→ ต้อง step back ดูภาพใหญ่สม่ำเสมอ</a:t>
            </a:r>
          </a:p>
        </p:txBody>
      </p:sp>
      <p:sp>
        <p:nvSpPr>
          <p:cNvPr id="6" name="TextBox 5"/>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7" name="TextBox 6"/>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Tip 8 — Good-Enough Software</a:t>
            </a:r>
          </a:p>
        </p:txBody>
      </p:sp>
      <p:sp>
        <p:nvSpPr>
          <p:cNvPr id="3" name="TextBox 2"/>
          <p:cNvSpPr txBox="1"/>
          <p:nvPr/>
        </p:nvSpPr>
        <p:spPr>
          <a:xfrm>
            <a:off x="457200" y="868680"/>
            <a:ext cx="11247120" cy="365760"/>
          </a:xfrm>
          <a:prstGeom prst="rect">
            <a:avLst/>
          </a:prstGeom>
          <a:noFill/>
        </p:spPr>
        <p:txBody>
          <a:bodyPr wrap="square" anchor="t">
            <a:spAutoFit/>
          </a:bodyPr>
          <a:lstStyle/>
          <a:p>
            <a:pPr algn="l"/>
            <a:r>
              <a:rPr sz="1600" b="0" i="1">
                <a:solidFill>
                  <a:srgbClr val="595959"/>
                </a:solidFill>
                <a:latin typeface="Tahoma"/>
              </a:rPr>
              <a:t>Make Quality a Requirements Issue</a:t>
            </a:r>
          </a:p>
        </p:txBody>
      </p:sp>
      <p:sp>
        <p:nvSpPr>
          <p:cNvPr id="4" name="Rectangle 3"/>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63040"/>
            <a:ext cx="11430000" cy="1280160"/>
          </a:xfrm>
          <a:prstGeom prst="roundRect">
            <a:avLst/>
          </a:prstGeom>
          <a:solidFill>
            <a:srgbClr val="D9E2F3"/>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600" i="1" b="0">
                <a:solidFill>
                  <a:srgbClr val="1F1F1F"/>
                </a:solidFill>
                <a:latin typeface="Tahoma"/>
              </a:rPr>
              <a:t>"Good-enough software is like the Fates — it can be changed when necessary, but it isn't decaying."</a:t>
            </a:r>
          </a:p>
        </p:txBody>
      </p:sp>
      <p:sp>
        <p:nvSpPr>
          <p:cNvPr id="6" name="TextBox 5"/>
          <p:cNvSpPr txBox="1"/>
          <p:nvPr/>
        </p:nvSpPr>
        <p:spPr>
          <a:xfrm>
            <a:off x="457200" y="3017520"/>
            <a:ext cx="11247120" cy="457200"/>
          </a:xfrm>
          <a:prstGeom prst="rect">
            <a:avLst/>
          </a:prstGeom>
          <a:noFill/>
        </p:spPr>
        <p:txBody>
          <a:bodyPr wrap="square" anchor="t">
            <a:spAutoFit/>
          </a:bodyPr>
          <a:lstStyle/>
          <a:p>
            <a:pPr algn="l"/>
            <a:r>
              <a:rPr sz="2200" b="1" i="0">
                <a:solidFill>
                  <a:srgbClr val="1F4E79"/>
                </a:solidFill>
                <a:latin typeface="Tahoma"/>
              </a:rPr>
              <a:t>"พอ" ในงานวิศวกรรม</a:t>
            </a:r>
          </a:p>
        </p:txBody>
      </p:sp>
      <p:sp>
        <p:nvSpPr>
          <p:cNvPr id="7" name="TextBox 6"/>
          <p:cNvSpPr txBox="1"/>
          <p:nvPr/>
        </p:nvSpPr>
        <p:spPr>
          <a:xfrm>
            <a:off x="640080" y="3520440"/>
            <a:ext cx="10972800" cy="4572000"/>
          </a:xfrm>
          <a:prstGeom prst="rect">
            <a:avLst/>
          </a:prstGeom>
          <a:noFill/>
        </p:spPr>
        <p:txBody>
          <a:bodyPr wrap="square">
            <a:spAutoFit/>
          </a:bodyPr>
          <a:lstStyle/>
          <a:p>
            <a:pPr>
              <a:spcAft>
                <a:spcPts val="1000"/>
              </a:spcAft>
            </a:pPr>
            <a:r>
              <a:rPr sz="1800" b="0">
                <a:solidFill>
                  <a:srgbClr val="1F1F1F"/>
                </a:solidFill>
                <a:latin typeface="Tahoma"/>
              </a:rPr>
              <a:t>• ถามผู้ใช้ก่อน: "ต้องดีแค่ไหน?" (uptime, performance, security)</a:t>
            </a:r>
          </a:p>
          <a:p>
            <a:pPr>
              <a:spcAft>
                <a:spcPts val="1000"/>
              </a:spcAft>
            </a:pPr>
            <a:r>
              <a:rPr sz="1800" b="0">
                <a:solidFill>
                  <a:srgbClr val="1F1F1F"/>
                </a:solidFill>
                <a:latin typeface="Tahoma"/>
              </a:rPr>
              <a:t>• ทำให้ถึงระดับนั้น — ไม่มากไม่น้อย</a:t>
            </a:r>
          </a:p>
          <a:p>
            <a:pPr>
              <a:spcAft>
                <a:spcPts val="1000"/>
              </a:spcAft>
            </a:pPr>
            <a:r>
              <a:rPr sz="1800" b="0">
                <a:solidFill>
                  <a:srgbClr val="1F1F1F"/>
                </a:solidFill>
                <a:latin typeface="Tahoma"/>
              </a:rPr>
              <a:t>• ❌ อย่าตัด security/reliability ที่ผู้ใช้มองไม่เห็น (ผู้ใช้รู้เมื่อถูกโจมตี)</a:t>
            </a:r>
          </a:p>
          <a:p>
            <a:pPr>
              <a:spcAft>
                <a:spcPts val="1000"/>
              </a:spcAft>
            </a:pPr>
            <a:r>
              <a:rPr sz="1800" b="0">
                <a:solidFill>
                  <a:srgbClr val="1F1F1F"/>
                </a:solidFill>
                <a:latin typeface="Tahoma"/>
              </a:rPr>
              <a:t>• รู้จังหวะ "หยุดเติมสี" — เหมือนจิตรกรที่รู้ว่าเมื่อไหร่พอ</a:t>
            </a:r>
          </a:p>
          <a:p>
            <a:pPr>
              <a:spcAft>
                <a:spcPts val="1000"/>
              </a:spcAft>
            </a:pPr>
            <a:r>
              <a:rPr sz="1800" b="0">
                <a:solidFill>
                  <a:srgbClr val="1F1F1F"/>
                </a:solidFill>
                <a:latin typeface="Tahoma"/>
              </a:rPr>
              <a:t>• อย่าสับสนกับ "ทำขี้เกียจ" — Good-enough ≠ Sloppy</a:t>
            </a:r>
          </a:p>
        </p:txBody>
      </p:sp>
      <p:sp>
        <p:nvSpPr>
          <p:cNvPr id="8" name="TextBox 7"/>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9" name="TextBox 8"/>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Knowledge Portfolio — ลงทุนในตัวเองให้เป็นนิสัย</a:t>
            </a:r>
          </a:p>
        </p:txBody>
      </p:sp>
      <p:sp>
        <p:nvSpPr>
          <p:cNvPr id="3" name="Rectangle 2"/>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17320"/>
            <a:ext cx="11247120" cy="365760"/>
          </a:xfrm>
          <a:prstGeom prst="rect">
            <a:avLst/>
          </a:prstGeom>
          <a:noFill/>
        </p:spPr>
        <p:txBody>
          <a:bodyPr wrap="square" anchor="t">
            <a:spAutoFit/>
          </a:bodyPr>
          <a:lstStyle/>
          <a:p>
            <a:pPr algn="l"/>
            <a:r>
              <a:rPr sz="1600" b="0" i="1">
                <a:solidFill>
                  <a:srgbClr val="595959"/>
                </a:solidFill>
                <a:latin typeface="Tahoma"/>
              </a:rPr>
              <a:t>Tip 9 — Invest Regularly in Your Knowledge Portfolio</a:t>
            </a:r>
          </a:p>
        </p:txBody>
      </p:sp>
      <p:sp>
        <p:nvSpPr>
          <p:cNvPr id="5" name="Oval 4"/>
          <p:cNvSpPr/>
          <p:nvPr/>
        </p:nvSpPr>
        <p:spPr>
          <a:xfrm>
            <a:off x="640080" y="2011680"/>
            <a:ext cx="548640" cy="5486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548640" cy="457200"/>
          </a:xfrm>
          <a:prstGeom prst="rect">
            <a:avLst/>
          </a:prstGeom>
          <a:noFill/>
        </p:spPr>
        <p:txBody>
          <a:bodyPr wrap="square" anchor="t">
            <a:spAutoFit/>
          </a:bodyPr>
          <a:lstStyle/>
          <a:p>
            <a:pPr algn="ctr"/>
            <a:r>
              <a:rPr sz="2000" b="1" i="0">
                <a:solidFill>
                  <a:srgbClr val="FFFFFF"/>
                </a:solidFill>
                <a:latin typeface="Tahoma"/>
              </a:rPr>
              <a:t>1</a:t>
            </a:r>
          </a:p>
        </p:txBody>
      </p:sp>
      <p:sp>
        <p:nvSpPr>
          <p:cNvPr id="7" name="TextBox 6"/>
          <p:cNvSpPr txBox="1"/>
          <p:nvPr/>
        </p:nvSpPr>
        <p:spPr>
          <a:xfrm>
            <a:off x="1371600" y="1920240"/>
            <a:ext cx="3657600" cy="365760"/>
          </a:xfrm>
          <a:prstGeom prst="rect">
            <a:avLst/>
          </a:prstGeom>
          <a:noFill/>
        </p:spPr>
        <p:txBody>
          <a:bodyPr wrap="square" anchor="t">
            <a:spAutoFit/>
          </a:bodyPr>
          <a:lstStyle/>
          <a:p>
            <a:pPr algn="l"/>
            <a:r>
              <a:rPr sz="1800" b="1" i="0">
                <a:solidFill>
                  <a:srgbClr val="1F4E79"/>
                </a:solidFill>
                <a:latin typeface="Tahoma"/>
              </a:rPr>
              <a:t>ลงทุนสม่ำเสมอ</a:t>
            </a:r>
          </a:p>
        </p:txBody>
      </p:sp>
      <p:sp>
        <p:nvSpPr>
          <p:cNvPr id="8" name="TextBox 7"/>
          <p:cNvSpPr txBox="1"/>
          <p:nvPr/>
        </p:nvSpPr>
        <p:spPr>
          <a:xfrm>
            <a:off x="5029200" y="1965960"/>
            <a:ext cx="6858000" cy="365760"/>
          </a:xfrm>
          <a:prstGeom prst="rect">
            <a:avLst/>
          </a:prstGeom>
          <a:noFill/>
        </p:spPr>
        <p:txBody>
          <a:bodyPr wrap="square" anchor="t">
            <a:spAutoFit/>
          </a:bodyPr>
          <a:lstStyle/>
          <a:p>
            <a:pPr algn="l"/>
            <a:r>
              <a:rPr sz="1400" b="0" i="1">
                <a:solidFill>
                  <a:srgbClr val="1F1F1F"/>
                </a:solidFill>
                <a:latin typeface="Tahoma"/>
              </a:rPr>
              <a:t>เป็นนิสัย ไม่ใช่ event ครั้งเดียว</a:t>
            </a:r>
          </a:p>
        </p:txBody>
      </p:sp>
      <p:sp>
        <p:nvSpPr>
          <p:cNvPr id="9" name="Oval 8"/>
          <p:cNvSpPr/>
          <p:nvPr/>
        </p:nvSpPr>
        <p:spPr>
          <a:xfrm>
            <a:off x="640080" y="2651760"/>
            <a:ext cx="548640" cy="5486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97479"/>
            <a:ext cx="548640" cy="457200"/>
          </a:xfrm>
          <a:prstGeom prst="rect">
            <a:avLst/>
          </a:prstGeom>
          <a:noFill/>
        </p:spPr>
        <p:txBody>
          <a:bodyPr wrap="square" anchor="t">
            <a:spAutoFit/>
          </a:bodyPr>
          <a:lstStyle/>
          <a:p>
            <a:pPr algn="ctr"/>
            <a:r>
              <a:rPr sz="2000" b="1" i="0">
                <a:solidFill>
                  <a:srgbClr val="FFFFFF"/>
                </a:solidFill>
                <a:latin typeface="Tahoma"/>
              </a:rPr>
              <a:t>2</a:t>
            </a:r>
          </a:p>
        </p:txBody>
      </p:sp>
      <p:sp>
        <p:nvSpPr>
          <p:cNvPr id="11" name="TextBox 10"/>
          <p:cNvSpPr txBox="1"/>
          <p:nvPr/>
        </p:nvSpPr>
        <p:spPr>
          <a:xfrm>
            <a:off x="1371600" y="2560320"/>
            <a:ext cx="3657600" cy="365760"/>
          </a:xfrm>
          <a:prstGeom prst="rect">
            <a:avLst/>
          </a:prstGeom>
          <a:noFill/>
        </p:spPr>
        <p:txBody>
          <a:bodyPr wrap="square" anchor="t">
            <a:spAutoFit/>
          </a:bodyPr>
          <a:lstStyle/>
          <a:p>
            <a:pPr algn="l"/>
            <a:r>
              <a:rPr sz="1800" b="1" i="0">
                <a:solidFill>
                  <a:srgbClr val="2E75B6"/>
                </a:solidFill>
                <a:latin typeface="Tahoma"/>
              </a:rPr>
              <a:t>Diversify</a:t>
            </a:r>
          </a:p>
        </p:txBody>
      </p:sp>
      <p:sp>
        <p:nvSpPr>
          <p:cNvPr id="12" name="TextBox 11"/>
          <p:cNvSpPr txBox="1"/>
          <p:nvPr/>
        </p:nvSpPr>
        <p:spPr>
          <a:xfrm>
            <a:off x="5029200" y="2606039"/>
            <a:ext cx="6858000" cy="365760"/>
          </a:xfrm>
          <a:prstGeom prst="rect">
            <a:avLst/>
          </a:prstGeom>
          <a:noFill/>
        </p:spPr>
        <p:txBody>
          <a:bodyPr wrap="square" anchor="t">
            <a:spAutoFit/>
          </a:bodyPr>
          <a:lstStyle/>
          <a:p>
            <a:pPr algn="l"/>
            <a:r>
              <a:rPr sz="1400" b="0" i="1">
                <a:solidFill>
                  <a:srgbClr val="1F1F1F"/>
                </a:solidFill>
                <a:latin typeface="Tahoma"/>
              </a:rPr>
              <a:t>หลายเทคโนโลยี ไม่ใช่ stack เดียว</a:t>
            </a:r>
          </a:p>
        </p:txBody>
      </p:sp>
      <p:sp>
        <p:nvSpPr>
          <p:cNvPr id="13" name="Oval 12"/>
          <p:cNvSpPr/>
          <p:nvPr/>
        </p:nvSpPr>
        <p:spPr>
          <a:xfrm>
            <a:off x="640080" y="3291840"/>
            <a:ext cx="548640" cy="548640"/>
          </a:xfrm>
          <a:prstGeom prst="ellipse">
            <a:avLst/>
          </a:prstGeom>
          <a:solidFill>
            <a:srgbClr val="BF9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337560"/>
            <a:ext cx="548640" cy="457200"/>
          </a:xfrm>
          <a:prstGeom prst="rect">
            <a:avLst/>
          </a:prstGeom>
          <a:noFill/>
        </p:spPr>
        <p:txBody>
          <a:bodyPr wrap="square" anchor="t">
            <a:spAutoFit/>
          </a:bodyPr>
          <a:lstStyle/>
          <a:p>
            <a:pPr algn="ctr"/>
            <a:r>
              <a:rPr sz="2000" b="1" i="0">
                <a:solidFill>
                  <a:srgbClr val="FFFFFF"/>
                </a:solidFill>
                <a:latin typeface="Tahoma"/>
              </a:rPr>
              <a:t>3</a:t>
            </a:r>
          </a:p>
        </p:txBody>
      </p:sp>
      <p:sp>
        <p:nvSpPr>
          <p:cNvPr id="15" name="TextBox 14"/>
          <p:cNvSpPr txBox="1"/>
          <p:nvPr/>
        </p:nvSpPr>
        <p:spPr>
          <a:xfrm>
            <a:off x="1371600" y="3200400"/>
            <a:ext cx="3657600" cy="365760"/>
          </a:xfrm>
          <a:prstGeom prst="rect">
            <a:avLst/>
          </a:prstGeom>
          <a:noFill/>
        </p:spPr>
        <p:txBody>
          <a:bodyPr wrap="square" anchor="t">
            <a:spAutoFit/>
          </a:bodyPr>
          <a:lstStyle/>
          <a:p>
            <a:pPr algn="l"/>
            <a:r>
              <a:rPr sz="1800" b="1" i="0">
                <a:solidFill>
                  <a:srgbClr val="BF9000"/>
                </a:solidFill>
                <a:latin typeface="Tahoma"/>
              </a:rPr>
              <a:t>สมดุลความเสี่ยง</a:t>
            </a:r>
          </a:p>
        </p:txBody>
      </p:sp>
      <p:sp>
        <p:nvSpPr>
          <p:cNvPr id="16" name="TextBox 15"/>
          <p:cNvSpPr txBox="1"/>
          <p:nvPr/>
        </p:nvSpPr>
        <p:spPr>
          <a:xfrm>
            <a:off x="5029200" y="3246120"/>
            <a:ext cx="6858000" cy="365760"/>
          </a:xfrm>
          <a:prstGeom prst="rect">
            <a:avLst/>
          </a:prstGeom>
          <a:noFill/>
        </p:spPr>
        <p:txBody>
          <a:bodyPr wrap="square" anchor="t">
            <a:spAutoFit/>
          </a:bodyPr>
          <a:lstStyle/>
          <a:p>
            <a:pPr algn="l"/>
            <a:r>
              <a:rPr sz="1400" b="0" i="1">
                <a:solidFill>
                  <a:srgbClr val="1F1F1F"/>
                </a:solidFill>
                <a:latin typeface="Tahoma"/>
              </a:rPr>
              <a:t>เทคโนโลยีที่ใช้แน่ + เทคโนโลยีใหม่</a:t>
            </a:r>
          </a:p>
        </p:txBody>
      </p:sp>
      <p:sp>
        <p:nvSpPr>
          <p:cNvPr id="17" name="Oval 16"/>
          <p:cNvSpPr/>
          <p:nvPr/>
        </p:nvSpPr>
        <p:spPr>
          <a:xfrm>
            <a:off x="640080" y="3931920"/>
            <a:ext cx="548640" cy="548640"/>
          </a:xfrm>
          <a:prstGeom prst="ellipse">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977640"/>
            <a:ext cx="548640" cy="457200"/>
          </a:xfrm>
          <a:prstGeom prst="rect">
            <a:avLst/>
          </a:prstGeom>
          <a:noFill/>
        </p:spPr>
        <p:txBody>
          <a:bodyPr wrap="square" anchor="t">
            <a:spAutoFit/>
          </a:bodyPr>
          <a:lstStyle/>
          <a:p>
            <a:pPr algn="ctr"/>
            <a:r>
              <a:rPr sz="2000" b="1" i="0">
                <a:solidFill>
                  <a:srgbClr val="FFFFFF"/>
                </a:solidFill>
                <a:latin typeface="Tahoma"/>
              </a:rPr>
              <a:t>4</a:t>
            </a:r>
          </a:p>
        </p:txBody>
      </p:sp>
      <p:sp>
        <p:nvSpPr>
          <p:cNvPr id="19" name="TextBox 18"/>
          <p:cNvSpPr txBox="1"/>
          <p:nvPr/>
        </p:nvSpPr>
        <p:spPr>
          <a:xfrm>
            <a:off x="1371600" y="3840480"/>
            <a:ext cx="3657600" cy="365760"/>
          </a:xfrm>
          <a:prstGeom prst="rect">
            <a:avLst/>
          </a:prstGeom>
          <a:noFill/>
        </p:spPr>
        <p:txBody>
          <a:bodyPr wrap="square" anchor="t">
            <a:spAutoFit/>
          </a:bodyPr>
          <a:lstStyle/>
          <a:p>
            <a:pPr algn="l"/>
            <a:r>
              <a:rPr sz="1800" b="1" i="0">
                <a:solidFill>
                  <a:srgbClr val="70AD47"/>
                </a:solidFill>
                <a:latin typeface="Tahoma"/>
              </a:rPr>
              <a:t>Buy low, sell high</a:t>
            </a:r>
          </a:p>
        </p:txBody>
      </p:sp>
      <p:sp>
        <p:nvSpPr>
          <p:cNvPr id="20" name="TextBox 19"/>
          <p:cNvSpPr txBox="1"/>
          <p:nvPr/>
        </p:nvSpPr>
        <p:spPr>
          <a:xfrm>
            <a:off x="5029200" y="3886200"/>
            <a:ext cx="6858000" cy="365760"/>
          </a:xfrm>
          <a:prstGeom prst="rect">
            <a:avLst/>
          </a:prstGeom>
          <a:noFill/>
        </p:spPr>
        <p:txBody>
          <a:bodyPr wrap="square" anchor="t">
            <a:spAutoFit/>
          </a:bodyPr>
          <a:lstStyle/>
          <a:p>
            <a:pPr algn="l"/>
            <a:r>
              <a:rPr sz="1400" b="0" i="1">
                <a:solidFill>
                  <a:srgbClr val="1F1F1F"/>
                </a:solidFill>
                <a:latin typeface="Tahoma"/>
              </a:rPr>
              <a:t>เรียน Rust / WASM / Edge ก่อน mainstream</a:t>
            </a:r>
          </a:p>
        </p:txBody>
      </p:sp>
      <p:sp>
        <p:nvSpPr>
          <p:cNvPr id="21" name="Oval 20"/>
          <p:cNvSpPr/>
          <p:nvPr/>
        </p:nvSpPr>
        <p:spPr>
          <a:xfrm>
            <a:off x="640080" y="4572000"/>
            <a:ext cx="548640" cy="54864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617720"/>
            <a:ext cx="548640" cy="457200"/>
          </a:xfrm>
          <a:prstGeom prst="rect">
            <a:avLst/>
          </a:prstGeom>
          <a:noFill/>
        </p:spPr>
        <p:txBody>
          <a:bodyPr wrap="square" anchor="t">
            <a:spAutoFit/>
          </a:bodyPr>
          <a:lstStyle/>
          <a:p>
            <a:pPr algn="ctr"/>
            <a:r>
              <a:rPr sz="2000" b="1" i="0">
                <a:solidFill>
                  <a:srgbClr val="FFFFFF"/>
                </a:solidFill>
                <a:latin typeface="Tahoma"/>
              </a:rPr>
              <a:t>5</a:t>
            </a:r>
          </a:p>
        </p:txBody>
      </p:sp>
      <p:sp>
        <p:nvSpPr>
          <p:cNvPr id="23" name="TextBox 22"/>
          <p:cNvSpPr txBox="1"/>
          <p:nvPr/>
        </p:nvSpPr>
        <p:spPr>
          <a:xfrm>
            <a:off x="1371600" y="4480560"/>
            <a:ext cx="3657600" cy="365760"/>
          </a:xfrm>
          <a:prstGeom prst="rect">
            <a:avLst/>
          </a:prstGeom>
          <a:noFill/>
        </p:spPr>
        <p:txBody>
          <a:bodyPr wrap="square" anchor="t">
            <a:spAutoFit/>
          </a:bodyPr>
          <a:lstStyle/>
          <a:p>
            <a:pPr algn="l"/>
            <a:r>
              <a:rPr sz="1800" b="1" i="0">
                <a:solidFill>
                  <a:srgbClr val="C00000"/>
                </a:solidFill>
                <a:latin typeface="Tahoma"/>
              </a:rPr>
              <a:t>Rebalance</a:t>
            </a:r>
          </a:p>
        </p:txBody>
      </p:sp>
      <p:sp>
        <p:nvSpPr>
          <p:cNvPr id="24" name="TextBox 23"/>
          <p:cNvSpPr txBox="1"/>
          <p:nvPr/>
        </p:nvSpPr>
        <p:spPr>
          <a:xfrm>
            <a:off x="5029200" y="4526280"/>
            <a:ext cx="6858000" cy="365760"/>
          </a:xfrm>
          <a:prstGeom prst="rect">
            <a:avLst/>
          </a:prstGeom>
          <a:noFill/>
        </p:spPr>
        <p:txBody>
          <a:bodyPr wrap="square" anchor="t">
            <a:spAutoFit/>
          </a:bodyPr>
          <a:lstStyle/>
          <a:p>
            <a:pPr algn="l"/>
            <a:r>
              <a:rPr sz="1400" b="0" i="1">
                <a:solidFill>
                  <a:srgbClr val="1F1F1F"/>
                </a:solidFill>
                <a:latin typeface="Tahoma"/>
              </a:rPr>
              <a:t>ทบทวนทุก 6 เดือน</a:t>
            </a:r>
          </a:p>
        </p:txBody>
      </p:sp>
      <p:sp>
        <p:nvSpPr>
          <p:cNvPr id="25" name="TextBox 24"/>
          <p:cNvSpPr txBox="1"/>
          <p:nvPr/>
        </p:nvSpPr>
        <p:spPr>
          <a:xfrm>
            <a:off x="457200" y="5943600"/>
            <a:ext cx="11247120" cy="365760"/>
          </a:xfrm>
          <a:prstGeom prst="rect">
            <a:avLst/>
          </a:prstGeom>
          <a:noFill/>
        </p:spPr>
        <p:txBody>
          <a:bodyPr wrap="square" anchor="t">
            <a:spAutoFit/>
          </a:bodyPr>
          <a:lstStyle/>
          <a:p>
            <a:pPr algn="ctr"/>
            <a:r>
              <a:rPr sz="1500" b="1" i="1">
                <a:solidFill>
                  <a:srgbClr val="BF9000"/>
                </a:solidFill>
                <a:latin typeface="Tahoma"/>
              </a:rPr>
              <a:t>เป้าหมายจริงในรายวิชานี้: Portfolio ของคุณต้องเติบโตใน 15 สัปดาห์</a:t>
            </a:r>
          </a:p>
        </p:txBody>
      </p:sp>
      <p:sp>
        <p:nvSpPr>
          <p:cNvPr id="26" name="TextBox 25"/>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27" name="TextBox 26"/>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Five Whys — ถาม 5 ครั้งเพื่อหา Root Cause</a:t>
            </a:r>
          </a:p>
        </p:txBody>
      </p:sp>
      <p:sp>
        <p:nvSpPr>
          <p:cNvPr id="3" name="Rectangle 2"/>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17320"/>
            <a:ext cx="11247120" cy="365760"/>
          </a:xfrm>
          <a:prstGeom prst="rect">
            <a:avLst/>
          </a:prstGeom>
          <a:noFill/>
        </p:spPr>
        <p:txBody>
          <a:bodyPr wrap="square" anchor="t">
            <a:spAutoFit/>
          </a:bodyPr>
          <a:lstStyle/>
          <a:p>
            <a:pPr algn="ctr"/>
            <a:r>
              <a:rPr sz="1500" b="0" i="1">
                <a:solidFill>
                  <a:srgbClr val="595959"/>
                </a:solidFill>
                <a:latin typeface="Tahoma"/>
              </a:rPr>
              <a:t>Bug: ฟังก์ชันคำนวณส่วนลดผิด</a:t>
            </a:r>
          </a:p>
        </p:txBody>
      </p:sp>
      <p:sp>
        <p:nvSpPr>
          <p:cNvPr id="5" name="TextBox 4"/>
          <p:cNvSpPr txBox="1"/>
          <p:nvPr/>
        </p:nvSpPr>
        <p:spPr>
          <a:xfrm>
            <a:off x="457200" y="2011680"/>
            <a:ext cx="457200" cy="365760"/>
          </a:xfrm>
          <a:prstGeom prst="rect">
            <a:avLst/>
          </a:prstGeom>
          <a:noFill/>
        </p:spPr>
        <p:txBody>
          <a:bodyPr wrap="square" anchor="t">
            <a:spAutoFit/>
          </a:bodyPr>
          <a:lstStyle/>
          <a:p>
            <a:pPr algn="ctr"/>
            <a:r>
              <a:rPr sz="1800" b="1" i="0">
                <a:solidFill>
                  <a:srgbClr val="FFFFFF"/>
                </a:solidFill>
                <a:latin typeface="Tahoma"/>
              </a:rPr>
              <a:t>1</a:t>
            </a:r>
          </a:p>
        </p:txBody>
      </p:sp>
      <p:sp>
        <p:nvSpPr>
          <p:cNvPr id="6" name="Oval 5"/>
          <p:cNvSpPr/>
          <p:nvPr/>
        </p:nvSpPr>
        <p:spPr>
          <a:xfrm>
            <a:off x="457200" y="2011680"/>
            <a:ext cx="457200" cy="4572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920240"/>
            <a:ext cx="1371600" cy="457200"/>
          </a:xfrm>
          <a:prstGeom prst="rect">
            <a:avLst/>
          </a:prstGeom>
          <a:noFill/>
        </p:spPr>
        <p:txBody>
          <a:bodyPr wrap="square" anchor="t">
            <a:spAutoFit/>
          </a:bodyPr>
          <a:lstStyle/>
          <a:p>
            <a:pPr algn="l"/>
            <a:r>
              <a:rPr sz="1600" b="1" i="0">
                <a:solidFill>
                  <a:srgbClr val="1F4E79"/>
                </a:solidFill>
                <a:latin typeface="Tahoma"/>
              </a:rPr>
              <a:t>ทำไม?</a:t>
            </a:r>
          </a:p>
        </p:txBody>
      </p:sp>
      <p:sp>
        <p:nvSpPr>
          <p:cNvPr id="8" name="TextBox 7"/>
          <p:cNvSpPr txBox="1"/>
          <p:nvPr/>
        </p:nvSpPr>
        <p:spPr>
          <a:xfrm>
            <a:off x="2651760" y="1920240"/>
            <a:ext cx="5486400" cy="457200"/>
          </a:xfrm>
          <a:prstGeom prst="rect">
            <a:avLst/>
          </a:prstGeom>
          <a:noFill/>
        </p:spPr>
        <p:txBody>
          <a:bodyPr wrap="square" anchor="t">
            <a:spAutoFit/>
          </a:bodyPr>
          <a:lstStyle/>
          <a:p>
            <a:pPr algn="l"/>
            <a:r>
              <a:rPr sz="1500" b="0" i="0">
                <a:solidFill>
                  <a:srgbClr val="1F1F1F"/>
                </a:solidFill>
                <a:latin typeface="Tahoma"/>
              </a:rPr>
              <a:t>ใช้ &gt; แทน &gt;=</a:t>
            </a:r>
          </a:p>
        </p:txBody>
      </p:sp>
      <p:sp>
        <p:nvSpPr>
          <p:cNvPr id="9" name="TextBox 8"/>
          <p:cNvSpPr txBox="1"/>
          <p:nvPr/>
        </p:nvSpPr>
        <p:spPr>
          <a:xfrm>
            <a:off x="8229600" y="1965960"/>
            <a:ext cx="3657600" cy="457200"/>
          </a:xfrm>
          <a:prstGeom prst="rect">
            <a:avLst/>
          </a:prstGeom>
          <a:noFill/>
        </p:spPr>
        <p:txBody>
          <a:bodyPr wrap="square" anchor="t">
            <a:spAutoFit/>
          </a:bodyPr>
          <a:lstStyle/>
          <a:p>
            <a:pPr algn="l"/>
            <a:r>
              <a:rPr sz="1300" b="0" i="1">
                <a:solidFill>
                  <a:srgbClr val="595959"/>
                </a:solidFill>
                <a:latin typeface="Tahoma"/>
              </a:rPr>
              <a:t>→ ที่ผิดพลาดเห็นได้</a:t>
            </a:r>
          </a:p>
        </p:txBody>
      </p:sp>
      <p:sp>
        <p:nvSpPr>
          <p:cNvPr id="10" name="TextBox 9"/>
          <p:cNvSpPr txBox="1"/>
          <p:nvPr/>
        </p:nvSpPr>
        <p:spPr>
          <a:xfrm>
            <a:off x="457200" y="2788920"/>
            <a:ext cx="457200" cy="365760"/>
          </a:xfrm>
          <a:prstGeom prst="rect">
            <a:avLst/>
          </a:prstGeom>
          <a:noFill/>
        </p:spPr>
        <p:txBody>
          <a:bodyPr wrap="square" anchor="t">
            <a:spAutoFit/>
          </a:bodyPr>
          <a:lstStyle/>
          <a:p>
            <a:pPr algn="ctr"/>
            <a:r>
              <a:rPr sz="1800" b="1" i="0">
                <a:solidFill>
                  <a:srgbClr val="FFFFFF"/>
                </a:solidFill>
                <a:latin typeface="Tahoma"/>
              </a:rPr>
              <a:t>2</a:t>
            </a:r>
          </a:p>
        </p:txBody>
      </p:sp>
      <p:sp>
        <p:nvSpPr>
          <p:cNvPr id="11" name="Oval 10"/>
          <p:cNvSpPr/>
          <p:nvPr/>
        </p:nvSpPr>
        <p:spPr>
          <a:xfrm>
            <a:off x="457200" y="2788920"/>
            <a:ext cx="457200" cy="4572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2697480"/>
            <a:ext cx="1371600" cy="457200"/>
          </a:xfrm>
          <a:prstGeom prst="rect">
            <a:avLst/>
          </a:prstGeom>
          <a:noFill/>
        </p:spPr>
        <p:txBody>
          <a:bodyPr wrap="square" anchor="t">
            <a:spAutoFit/>
          </a:bodyPr>
          <a:lstStyle/>
          <a:p>
            <a:pPr algn="l"/>
            <a:r>
              <a:rPr sz="1600" b="1" i="0">
                <a:solidFill>
                  <a:srgbClr val="1F4E79"/>
                </a:solidFill>
                <a:latin typeface="Tahoma"/>
              </a:rPr>
              <a:t>ทำไม?</a:t>
            </a:r>
          </a:p>
        </p:txBody>
      </p:sp>
      <p:sp>
        <p:nvSpPr>
          <p:cNvPr id="13" name="TextBox 12"/>
          <p:cNvSpPr txBox="1"/>
          <p:nvPr/>
        </p:nvSpPr>
        <p:spPr>
          <a:xfrm>
            <a:off x="2651760" y="2697480"/>
            <a:ext cx="5486400" cy="457200"/>
          </a:xfrm>
          <a:prstGeom prst="rect">
            <a:avLst/>
          </a:prstGeom>
          <a:noFill/>
        </p:spPr>
        <p:txBody>
          <a:bodyPr wrap="square" anchor="t">
            <a:spAutoFit/>
          </a:bodyPr>
          <a:lstStyle/>
          <a:p>
            <a:pPr algn="l"/>
            <a:r>
              <a:rPr sz="1500" b="0" i="0">
                <a:solidFill>
                  <a:srgbClr val="1F1F1F"/>
                </a:solidFill>
                <a:latin typeface="Tahoma"/>
              </a:rPr>
              <a:t>เข้าใจว่า discount ใช้ได้เฉพาะ amount &gt; 0</a:t>
            </a:r>
          </a:p>
        </p:txBody>
      </p:sp>
      <p:sp>
        <p:nvSpPr>
          <p:cNvPr id="14" name="TextBox 13"/>
          <p:cNvSpPr txBox="1"/>
          <p:nvPr/>
        </p:nvSpPr>
        <p:spPr>
          <a:xfrm>
            <a:off x="8229600" y="2743200"/>
            <a:ext cx="3657600" cy="457200"/>
          </a:xfrm>
          <a:prstGeom prst="rect">
            <a:avLst/>
          </a:prstGeom>
          <a:noFill/>
        </p:spPr>
        <p:txBody>
          <a:bodyPr wrap="square" anchor="t">
            <a:spAutoFit/>
          </a:bodyPr>
          <a:lstStyle/>
          <a:p>
            <a:pPr algn="l"/>
            <a:r>
              <a:rPr sz="1300" b="0" i="1">
                <a:solidFill>
                  <a:srgbClr val="595959"/>
                </a:solidFill>
                <a:latin typeface="Tahoma"/>
              </a:rPr>
              <a:t>→ ความเข้าใจ requirement</a:t>
            </a:r>
          </a:p>
        </p:txBody>
      </p:sp>
      <p:sp>
        <p:nvSpPr>
          <p:cNvPr id="15" name="TextBox 14"/>
          <p:cNvSpPr txBox="1"/>
          <p:nvPr/>
        </p:nvSpPr>
        <p:spPr>
          <a:xfrm>
            <a:off x="457200" y="3566160"/>
            <a:ext cx="457200" cy="365760"/>
          </a:xfrm>
          <a:prstGeom prst="rect">
            <a:avLst/>
          </a:prstGeom>
          <a:noFill/>
        </p:spPr>
        <p:txBody>
          <a:bodyPr wrap="square" anchor="t">
            <a:spAutoFit/>
          </a:bodyPr>
          <a:lstStyle/>
          <a:p>
            <a:pPr algn="ctr"/>
            <a:r>
              <a:rPr sz="1800" b="1" i="0">
                <a:solidFill>
                  <a:srgbClr val="FFFFFF"/>
                </a:solidFill>
                <a:latin typeface="Tahoma"/>
              </a:rPr>
              <a:t>3</a:t>
            </a:r>
          </a:p>
        </p:txBody>
      </p:sp>
      <p:sp>
        <p:nvSpPr>
          <p:cNvPr id="16" name="Oval 15"/>
          <p:cNvSpPr/>
          <p:nvPr/>
        </p:nvSpPr>
        <p:spPr>
          <a:xfrm>
            <a:off x="457200" y="3566160"/>
            <a:ext cx="457200" cy="4572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474720"/>
            <a:ext cx="1371600" cy="457200"/>
          </a:xfrm>
          <a:prstGeom prst="rect">
            <a:avLst/>
          </a:prstGeom>
          <a:noFill/>
        </p:spPr>
        <p:txBody>
          <a:bodyPr wrap="square" anchor="t">
            <a:spAutoFit/>
          </a:bodyPr>
          <a:lstStyle/>
          <a:p>
            <a:pPr algn="l"/>
            <a:r>
              <a:rPr sz="1600" b="1" i="0">
                <a:solidFill>
                  <a:srgbClr val="1F4E79"/>
                </a:solidFill>
                <a:latin typeface="Tahoma"/>
              </a:rPr>
              <a:t>ทำไม?</a:t>
            </a:r>
          </a:p>
        </p:txBody>
      </p:sp>
      <p:sp>
        <p:nvSpPr>
          <p:cNvPr id="18" name="TextBox 17"/>
          <p:cNvSpPr txBox="1"/>
          <p:nvPr/>
        </p:nvSpPr>
        <p:spPr>
          <a:xfrm>
            <a:off x="2651760" y="3474720"/>
            <a:ext cx="5486400" cy="457200"/>
          </a:xfrm>
          <a:prstGeom prst="rect">
            <a:avLst/>
          </a:prstGeom>
          <a:noFill/>
        </p:spPr>
        <p:txBody>
          <a:bodyPr wrap="square" anchor="t">
            <a:spAutoFit/>
          </a:bodyPr>
          <a:lstStyle/>
          <a:p>
            <a:pPr algn="l"/>
            <a:r>
              <a:rPr sz="1500" b="0" i="0">
                <a:solidFill>
                  <a:srgbClr val="1F1F1F"/>
                </a:solidFill>
                <a:latin typeface="Tahoma"/>
              </a:rPr>
              <a:t>เข้าใจ requirement ผิด</a:t>
            </a:r>
          </a:p>
        </p:txBody>
      </p:sp>
      <p:sp>
        <p:nvSpPr>
          <p:cNvPr id="19" name="TextBox 18"/>
          <p:cNvSpPr txBox="1"/>
          <p:nvPr/>
        </p:nvSpPr>
        <p:spPr>
          <a:xfrm>
            <a:off x="8229600" y="3520440"/>
            <a:ext cx="3657600" cy="457200"/>
          </a:xfrm>
          <a:prstGeom prst="rect">
            <a:avLst/>
          </a:prstGeom>
          <a:noFill/>
        </p:spPr>
        <p:txBody>
          <a:bodyPr wrap="square" anchor="t">
            <a:spAutoFit/>
          </a:bodyPr>
          <a:lstStyle/>
          <a:p>
            <a:pPr algn="l"/>
            <a:r>
              <a:rPr sz="1300" b="0" i="1">
                <a:solidFill>
                  <a:srgbClr val="595959"/>
                </a:solidFill>
                <a:latin typeface="Tahoma"/>
              </a:rPr>
              <a:t>→ ไม่มี AC ที่ชัดเจน</a:t>
            </a:r>
          </a:p>
        </p:txBody>
      </p:sp>
      <p:sp>
        <p:nvSpPr>
          <p:cNvPr id="20" name="TextBox 19"/>
          <p:cNvSpPr txBox="1"/>
          <p:nvPr/>
        </p:nvSpPr>
        <p:spPr>
          <a:xfrm>
            <a:off x="457200" y="4343400"/>
            <a:ext cx="457200" cy="365760"/>
          </a:xfrm>
          <a:prstGeom prst="rect">
            <a:avLst/>
          </a:prstGeom>
          <a:noFill/>
        </p:spPr>
        <p:txBody>
          <a:bodyPr wrap="square" anchor="t">
            <a:spAutoFit/>
          </a:bodyPr>
          <a:lstStyle/>
          <a:p>
            <a:pPr algn="ctr"/>
            <a:r>
              <a:rPr sz="1800" b="1" i="0">
                <a:solidFill>
                  <a:srgbClr val="FFFFFF"/>
                </a:solidFill>
                <a:latin typeface="Tahoma"/>
              </a:rPr>
              <a:t>4</a:t>
            </a:r>
          </a:p>
        </p:txBody>
      </p:sp>
      <p:sp>
        <p:nvSpPr>
          <p:cNvPr id="21" name="Oval 20"/>
          <p:cNvSpPr/>
          <p:nvPr/>
        </p:nvSpPr>
        <p:spPr>
          <a:xfrm>
            <a:off x="457200" y="4343400"/>
            <a:ext cx="457200" cy="4572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251960"/>
            <a:ext cx="1371600" cy="457200"/>
          </a:xfrm>
          <a:prstGeom prst="rect">
            <a:avLst/>
          </a:prstGeom>
          <a:noFill/>
        </p:spPr>
        <p:txBody>
          <a:bodyPr wrap="square" anchor="t">
            <a:spAutoFit/>
          </a:bodyPr>
          <a:lstStyle/>
          <a:p>
            <a:pPr algn="l"/>
            <a:r>
              <a:rPr sz="1600" b="1" i="0">
                <a:solidFill>
                  <a:srgbClr val="1F4E79"/>
                </a:solidFill>
                <a:latin typeface="Tahoma"/>
              </a:rPr>
              <a:t>ทำไม?</a:t>
            </a:r>
          </a:p>
        </p:txBody>
      </p:sp>
      <p:sp>
        <p:nvSpPr>
          <p:cNvPr id="23" name="TextBox 22"/>
          <p:cNvSpPr txBox="1"/>
          <p:nvPr/>
        </p:nvSpPr>
        <p:spPr>
          <a:xfrm>
            <a:off x="2651760" y="4251960"/>
            <a:ext cx="5486400" cy="457200"/>
          </a:xfrm>
          <a:prstGeom prst="rect">
            <a:avLst/>
          </a:prstGeom>
          <a:noFill/>
        </p:spPr>
        <p:txBody>
          <a:bodyPr wrap="square" anchor="t">
            <a:spAutoFit/>
          </a:bodyPr>
          <a:lstStyle/>
          <a:p>
            <a:pPr algn="l"/>
            <a:r>
              <a:rPr sz="1500" b="0" i="0">
                <a:solidFill>
                  <a:srgbClr val="1F1F1F"/>
                </a:solidFill>
                <a:latin typeface="Tahoma"/>
              </a:rPr>
              <a:t>ไม่มี Acceptance Criteria ที่ชัดเจน</a:t>
            </a:r>
          </a:p>
        </p:txBody>
      </p:sp>
      <p:sp>
        <p:nvSpPr>
          <p:cNvPr id="24" name="TextBox 23"/>
          <p:cNvSpPr txBox="1"/>
          <p:nvPr/>
        </p:nvSpPr>
        <p:spPr>
          <a:xfrm>
            <a:off x="8229600" y="4297680"/>
            <a:ext cx="3657600" cy="457200"/>
          </a:xfrm>
          <a:prstGeom prst="rect">
            <a:avLst/>
          </a:prstGeom>
          <a:noFill/>
        </p:spPr>
        <p:txBody>
          <a:bodyPr wrap="square" anchor="t">
            <a:spAutoFit/>
          </a:bodyPr>
          <a:lstStyle/>
          <a:p>
            <a:pPr algn="l"/>
            <a:r>
              <a:rPr sz="1300" b="0" i="1">
                <a:solidFill>
                  <a:srgbClr val="595959"/>
                </a:solidFill>
                <a:latin typeface="Tahoma"/>
              </a:rPr>
              <a:t>→ กระบวนการ</a:t>
            </a:r>
          </a:p>
        </p:txBody>
      </p:sp>
      <p:sp>
        <p:nvSpPr>
          <p:cNvPr id="25" name="TextBox 24"/>
          <p:cNvSpPr txBox="1"/>
          <p:nvPr/>
        </p:nvSpPr>
        <p:spPr>
          <a:xfrm>
            <a:off x="457200" y="5120640"/>
            <a:ext cx="457200" cy="365760"/>
          </a:xfrm>
          <a:prstGeom prst="rect">
            <a:avLst/>
          </a:prstGeom>
          <a:noFill/>
        </p:spPr>
        <p:txBody>
          <a:bodyPr wrap="square" anchor="t">
            <a:spAutoFit/>
          </a:bodyPr>
          <a:lstStyle/>
          <a:p>
            <a:pPr algn="ctr"/>
            <a:r>
              <a:rPr sz="1800" b="1" i="0">
                <a:solidFill>
                  <a:srgbClr val="FFFFFF"/>
                </a:solidFill>
                <a:latin typeface="Tahoma"/>
              </a:rPr>
              <a:t>5</a:t>
            </a:r>
          </a:p>
        </p:txBody>
      </p:sp>
      <p:sp>
        <p:nvSpPr>
          <p:cNvPr id="26" name="Oval 25"/>
          <p:cNvSpPr/>
          <p:nvPr/>
        </p:nvSpPr>
        <p:spPr>
          <a:xfrm>
            <a:off x="457200" y="5120640"/>
            <a:ext cx="457200" cy="4572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8720" y="5029200"/>
            <a:ext cx="1371600" cy="457200"/>
          </a:xfrm>
          <a:prstGeom prst="rect">
            <a:avLst/>
          </a:prstGeom>
          <a:noFill/>
        </p:spPr>
        <p:txBody>
          <a:bodyPr wrap="square" anchor="t">
            <a:spAutoFit/>
          </a:bodyPr>
          <a:lstStyle/>
          <a:p>
            <a:pPr algn="l"/>
            <a:r>
              <a:rPr sz="1600" b="1" i="0">
                <a:solidFill>
                  <a:srgbClr val="1F4E79"/>
                </a:solidFill>
                <a:latin typeface="Tahoma"/>
              </a:rPr>
              <a:t>ทำไม?</a:t>
            </a:r>
          </a:p>
        </p:txBody>
      </p:sp>
      <p:sp>
        <p:nvSpPr>
          <p:cNvPr id="28" name="TextBox 27"/>
          <p:cNvSpPr txBox="1"/>
          <p:nvPr/>
        </p:nvSpPr>
        <p:spPr>
          <a:xfrm>
            <a:off x="2651760" y="5029200"/>
            <a:ext cx="5486400" cy="457200"/>
          </a:xfrm>
          <a:prstGeom prst="rect">
            <a:avLst/>
          </a:prstGeom>
          <a:noFill/>
        </p:spPr>
        <p:txBody>
          <a:bodyPr wrap="square" anchor="t">
            <a:spAutoFit/>
          </a:bodyPr>
          <a:lstStyle/>
          <a:p>
            <a:pPr algn="l"/>
            <a:r>
              <a:rPr sz="1500" b="0" i="0">
                <a:solidFill>
                  <a:srgbClr val="1F1F1F"/>
                </a:solidFill>
                <a:latin typeface="Tahoma"/>
              </a:rPr>
              <a:t>ไม่มีกระบวนการตรวจสอบร่วมกับ PO</a:t>
            </a:r>
          </a:p>
        </p:txBody>
      </p:sp>
      <p:sp>
        <p:nvSpPr>
          <p:cNvPr id="29" name="TextBox 28"/>
          <p:cNvSpPr txBox="1"/>
          <p:nvPr/>
        </p:nvSpPr>
        <p:spPr>
          <a:xfrm>
            <a:off x="8229600" y="5074920"/>
            <a:ext cx="3657600" cy="457200"/>
          </a:xfrm>
          <a:prstGeom prst="rect">
            <a:avLst/>
          </a:prstGeom>
          <a:noFill/>
        </p:spPr>
        <p:txBody>
          <a:bodyPr wrap="square" anchor="t">
            <a:spAutoFit/>
          </a:bodyPr>
          <a:lstStyle/>
          <a:p>
            <a:pPr algn="l"/>
            <a:r>
              <a:rPr sz="1300" b="0" i="1">
                <a:solidFill>
                  <a:srgbClr val="C00000"/>
                </a:solidFill>
                <a:latin typeface="Tahoma"/>
              </a:rPr>
              <a:t>→ → Root Cause: ต้องเพิ่ม AC Review</a:t>
            </a:r>
          </a:p>
        </p:txBody>
      </p:sp>
      <p:sp>
        <p:nvSpPr>
          <p:cNvPr id="30" name="TextBox 29"/>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31" name="TextBox 30"/>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จรรยาบรรณวิชาชีพ — ACM Code (2018)</a:t>
            </a:r>
          </a:p>
        </p:txBody>
      </p:sp>
      <p:sp>
        <p:nvSpPr>
          <p:cNvPr id="3" name="Rectangle 2"/>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48640" y="1737360"/>
            <a:ext cx="548640" cy="5486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548640" cy="457200"/>
          </a:xfrm>
          <a:prstGeom prst="rect">
            <a:avLst/>
          </a:prstGeom>
          <a:noFill/>
        </p:spPr>
        <p:txBody>
          <a:bodyPr wrap="square" anchor="t">
            <a:spAutoFit/>
          </a:bodyPr>
          <a:lstStyle/>
          <a:p>
            <a:pPr algn="ctr"/>
            <a:r>
              <a:rPr sz="2000" b="1" i="0">
                <a:solidFill>
                  <a:srgbClr val="FFFFFF"/>
                </a:solidFill>
                <a:latin typeface="Tahoma"/>
              </a:rPr>
              <a:t>1</a:t>
            </a:r>
          </a:p>
        </p:txBody>
      </p:sp>
      <p:sp>
        <p:nvSpPr>
          <p:cNvPr id="6" name="TextBox 5"/>
          <p:cNvSpPr txBox="1"/>
          <p:nvPr/>
        </p:nvSpPr>
        <p:spPr>
          <a:xfrm>
            <a:off x="1280160" y="1737360"/>
            <a:ext cx="4846320" cy="640080"/>
          </a:xfrm>
          <a:prstGeom prst="rect">
            <a:avLst/>
          </a:prstGeom>
          <a:noFill/>
        </p:spPr>
        <p:txBody>
          <a:bodyPr wrap="square" anchor="t">
            <a:spAutoFit/>
          </a:bodyPr>
          <a:lstStyle/>
          <a:p>
            <a:pPr algn="l"/>
            <a:r>
              <a:rPr sz="1400" b="0" i="0">
                <a:solidFill>
                  <a:srgbClr val="1F1F1F"/>
                </a:solidFill>
                <a:latin typeface="Tahoma"/>
              </a:rPr>
              <a:t>Contribute to society and human well-being</a:t>
            </a:r>
          </a:p>
        </p:txBody>
      </p:sp>
      <p:sp>
        <p:nvSpPr>
          <p:cNvPr id="7" name="Oval 6"/>
          <p:cNvSpPr/>
          <p:nvPr/>
        </p:nvSpPr>
        <p:spPr>
          <a:xfrm>
            <a:off x="548640" y="2606040"/>
            <a:ext cx="548640" cy="5486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651760"/>
            <a:ext cx="548640" cy="457200"/>
          </a:xfrm>
          <a:prstGeom prst="rect">
            <a:avLst/>
          </a:prstGeom>
          <a:noFill/>
        </p:spPr>
        <p:txBody>
          <a:bodyPr wrap="square" anchor="t">
            <a:spAutoFit/>
          </a:bodyPr>
          <a:lstStyle/>
          <a:p>
            <a:pPr algn="ctr"/>
            <a:r>
              <a:rPr sz="2000" b="1" i="0">
                <a:solidFill>
                  <a:srgbClr val="FFFFFF"/>
                </a:solidFill>
                <a:latin typeface="Tahoma"/>
              </a:rPr>
              <a:t>2</a:t>
            </a:r>
          </a:p>
        </p:txBody>
      </p:sp>
      <p:sp>
        <p:nvSpPr>
          <p:cNvPr id="9" name="TextBox 8"/>
          <p:cNvSpPr txBox="1"/>
          <p:nvPr/>
        </p:nvSpPr>
        <p:spPr>
          <a:xfrm>
            <a:off x="1280160" y="2606040"/>
            <a:ext cx="4846320" cy="640080"/>
          </a:xfrm>
          <a:prstGeom prst="rect">
            <a:avLst/>
          </a:prstGeom>
          <a:noFill/>
        </p:spPr>
        <p:txBody>
          <a:bodyPr wrap="square" anchor="t">
            <a:spAutoFit/>
          </a:bodyPr>
          <a:lstStyle/>
          <a:p>
            <a:pPr algn="l"/>
            <a:r>
              <a:rPr sz="1400" b="0" i="0">
                <a:solidFill>
                  <a:srgbClr val="1F1F1F"/>
                </a:solidFill>
                <a:latin typeface="Tahoma"/>
              </a:rPr>
              <a:t>Avoid harm to others</a:t>
            </a:r>
          </a:p>
        </p:txBody>
      </p:sp>
      <p:sp>
        <p:nvSpPr>
          <p:cNvPr id="10" name="Oval 9"/>
          <p:cNvSpPr/>
          <p:nvPr/>
        </p:nvSpPr>
        <p:spPr>
          <a:xfrm>
            <a:off x="548640" y="3474720"/>
            <a:ext cx="548640" cy="5486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20440"/>
            <a:ext cx="548640" cy="457200"/>
          </a:xfrm>
          <a:prstGeom prst="rect">
            <a:avLst/>
          </a:prstGeom>
          <a:noFill/>
        </p:spPr>
        <p:txBody>
          <a:bodyPr wrap="square" anchor="t">
            <a:spAutoFit/>
          </a:bodyPr>
          <a:lstStyle/>
          <a:p>
            <a:pPr algn="ctr"/>
            <a:r>
              <a:rPr sz="2000" b="1" i="0">
                <a:solidFill>
                  <a:srgbClr val="FFFFFF"/>
                </a:solidFill>
                <a:latin typeface="Tahoma"/>
              </a:rPr>
              <a:t>3</a:t>
            </a:r>
          </a:p>
        </p:txBody>
      </p:sp>
      <p:sp>
        <p:nvSpPr>
          <p:cNvPr id="12" name="TextBox 11"/>
          <p:cNvSpPr txBox="1"/>
          <p:nvPr/>
        </p:nvSpPr>
        <p:spPr>
          <a:xfrm>
            <a:off x="1280160" y="3474720"/>
            <a:ext cx="4846320" cy="640080"/>
          </a:xfrm>
          <a:prstGeom prst="rect">
            <a:avLst/>
          </a:prstGeom>
          <a:noFill/>
        </p:spPr>
        <p:txBody>
          <a:bodyPr wrap="square" anchor="t">
            <a:spAutoFit/>
          </a:bodyPr>
          <a:lstStyle/>
          <a:p>
            <a:pPr algn="l"/>
            <a:r>
              <a:rPr sz="1400" b="0" i="0">
                <a:solidFill>
                  <a:srgbClr val="1F1F1F"/>
                </a:solidFill>
                <a:latin typeface="Tahoma"/>
              </a:rPr>
              <a:t>Be honest and trustworthy</a:t>
            </a:r>
          </a:p>
        </p:txBody>
      </p:sp>
      <p:sp>
        <p:nvSpPr>
          <p:cNvPr id="13" name="Oval 12"/>
          <p:cNvSpPr/>
          <p:nvPr/>
        </p:nvSpPr>
        <p:spPr>
          <a:xfrm>
            <a:off x="548640" y="4343399"/>
            <a:ext cx="548640" cy="5486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389120"/>
            <a:ext cx="548640" cy="457200"/>
          </a:xfrm>
          <a:prstGeom prst="rect">
            <a:avLst/>
          </a:prstGeom>
          <a:noFill/>
        </p:spPr>
        <p:txBody>
          <a:bodyPr wrap="square" anchor="t">
            <a:spAutoFit/>
          </a:bodyPr>
          <a:lstStyle/>
          <a:p>
            <a:pPr algn="ctr"/>
            <a:r>
              <a:rPr sz="2000" b="1" i="0">
                <a:solidFill>
                  <a:srgbClr val="FFFFFF"/>
                </a:solidFill>
                <a:latin typeface="Tahoma"/>
              </a:rPr>
              <a:t>4</a:t>
            </a:r>
          </a:p>
        </p:txBody>
      </p:sp>
      <p:sp>
        <p:nvSpPr>
          <p:cNvPr id="15" name="TextBox 14"/>
          <p:cNvSpPr txBox="1"/>
          <p:nvPr/>
        </p:nvSpPr>
        <p:spPr>
          <a:xfrm>
            <a:off x="1280160" y="4343399"/>
            <a:ext cx="4846320" cy="640080"/>
          </a:xfrm>
          <a:prstGeom prst="rect">
            <a:avLst/>
          </a:prstGeom>
          <a:noFill/>
        </p:spPr>
        <p:txBody>
          <a:bodyPr wrap="square" anchor="t">
            <a:spAutoFit/>
          </a:bodyPr>
          <a:lstStyle/>
          <a:p>
            <a:pPr algn="l"/>
            <a:r>
              <a:rPr sz="1400" b="0" i="0">
                <a:solidFill>
                  <a:srgbClr val="1F1F1F"/>
                </a:solidFill>
                <a:latin typeface="Tahoma"/>
              </a:rPr>
              <a:t>Be fair and take action not to discriminate</a:t>
            </a:r>
          </a:p>
        </p:txBody>
      </p:sp>
      <p:sp>
        <p:nvSpPr>
          <p:cNvPr id="16" name="Oval 15"/>
          <p:cNvSpPr/>
          <p:nvPr/>
        </p:nvSpPr>
        <p:spPr>
          <a:xfrm>
            <a:off x="6217920" y="1737360"/>
            <a:ext cx="548640" cy="5486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1783080"/>
            <a:ext cx="548640" cy="457200"/>
          </a:xfrm>
          <a:prstGeom prst="rect">
            <a:avLst/>
          </a:prstGeom>
          <a:noFill/>
        </p:spPr>
        <p:txBody>
          <a:bodyPr wrap="square" anchor="t">
            <a:spAutoFit/>
          </a:bodyPr>
          <a:lstStyle/>
          <a:p>
            <a:pPr algn="ctr"/>
            <a:r>
              <a:rPr sz="2000" b="1" i="0">
                <a:solidFill>
                  <a:srgbClr val="FFFFFF"/>
                </a:solidFill>
                <a:latin typeface="Tahoma"/>
              </a:rPr>
              <a:t>5</a:t>
            </a:r>
          </a:p>
        </p:txBody>
      </p:sp>
      <p:sp>
        <p:nvSpPr>
          <p:cNvPr id="18" name="TextBox 17"/>
          <p:cNvSpPr txBox="1"/>
          <p:nvPr/>
        </p:nvSpPr>
        <p:spPr>
          <a:xfrm>
            <a:off x="6949440" y="1737360"/>
            <a:ext cx="4846320" cy="640080"/>
          </a:xfrm>
          <a:prstGeom prst="rect">
            <a:avLst/>
          </a:prstGeom>
          <a:noFill/>
        </p:spPr>
        <p:txBody>
          <a:bodyPr wrap="square" anchor="t">
            <a:spAutoFit/>
          </a:bodyPr>
          <a:lstStyle/>
          <a:p>
            <a:pPr algn="l"/>
            <a:r>
              <a:rPr sz="1400" b="0" i="0">
                <a:solidFill>
                  <a:srgbClr val="1F1F1F"/>
                </a:solidFill>
                <a:latin typeface="Tahoma"/>
              </a:rPr>
              <a:t>Respect the work of others — IP/Attribution</a:t>
            </a:r>
          </a:p>
        </p:txBody>
      </p:sp>
      <p:sp>
        <p:nvSpPr>
          <p:cNvPr id="19" name="Oval 18"/>
          <p:cNvSpPr/>
          <p:nvPr/>
        </p:nvSpPr>
        <p:spPr>
          <a:xfrm>
            <a:off x="6217920" y="2606040"/>
            <a:ext cx="548640" cy="5486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2651760"/>
            <a:ext cx="548640" cy="457200"/>
          </a:xfrm>
          <a:prstGeom prst="rect">
            <a:avLst/>
          </a:prstGeom>
          <a:noFill/>
        </p:spPr>
        <p:txBody>
          <a:bodyPr wrap="square" anchor="t">
            <a:spAutoFit/>
          </a:bodyPr>
          <a:lstStyle/>
          <a:p>
            <a:pPr algn="ctr"/>
            <a:r>
              <a:rPr sz="2000" b="1" i="0">
                <a:solidFill>
                  <a:srgbClr val="FFFFFF"/>
                </a:solidFill>
                <a:latin typeface="Tahoma"/>
              </a:rPr>
              <a:t>6</a:t>
            </a:r>
          </a:p>
        </p:txBody>
      </p:sp>
      <p:sp>
        <p:nvSpPr>
          <p:cNvPr id="21" name="TextBox 20"/>
          <p:cNvSpPr txBox="1"/>
          <p:nvPr/>
        </p:nvSpPr>
        <p:spPr>
          <a:xfrm>
            <a:off x="6949440" y="2606040"/>
            <a:ext cx="4846320" cy="640080"/>
          </a:xfrm>
          <a:prstGeom prst="rect">
            <a:avLst/>
          </a:prstGeom>
          <a:noFill/>
        </p:spPr>
        <p:txBody>
          <a:bodyPr wrap="square" anchor="t">
            <a:spAutoFit/>
          </a:bodyPr>
          <a:lstStyle/>
          <a:p>
            <a:pPr algn="l"/>
            <a:r>
              <a:rPr sz="1400" b="0" i="0">
                <a:solidFill>
                  <a:srgbClr val="1F1F1F"/>
                </a:solidFill>
                <a:latin typeface="Tahoma"/>
              </a:rPr>
              <a:t>Respect privacy</a:t>
            </a:r>
          </a:p>
        </p:txBody>
      </p:sp>
      <p:sp>
        <p:nvSpPr>
          <p:cNvPr id="22" name="Oval 21"/>
          <p:cNvSpPr/>
          <p:nvPr/>
        </p:nvSpPr>
        <p:spPr>
          <a:xfrm>
            <a:off x="6217920" y="3474720"/>
            <a:ext cx="548640" cy="54864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3520440"/>
            <a:ext cx="548640" cy="457200"/>
          </a:xfrm>
          <a:prstGeom prst="rect">
            <a:avLst/>
          </a:prstGeom>
          <a:noFill/>
        </p:spPr>
        <p:txBody>
          <a:bodyPr wrap="square" anchor="t">
            <a:spAutoFit/>
          </a:bodyPr>
          <a:lstStyle/>
          <a:p>
            <a:pPr algn="ctr"/>
            <a:r>
              <a:rPr sz="2000" b="1" i="0">
                <a:solidFill>
                  <a:srgbClr val="FFFFFF"/>
                </a:solidFill>
                <a:latin typeface="Tahoma"/>
              </a:rPr>
              <a:t>7</a:t>
            </a:r>
          </a:p>
        </p:txBody>
      </p:sp>
      <p:sp>
        <p:nvSpPr>
          <p:cNvPr id="24" name="TextBox 23"/>
          <p:cNvSpPr txBox="1"/>
          <p:nvPr/>
        </p:nvSpPr>
        <p:spPr>
          <a:xfrm>
            <a:off x="6949440" y="3474720"/>
            <a:ext cx="4846320" cy="640080"/>
          </a:xfrm>
          <a:prstGeom prst="rect">
            <a:avLst/>
          </a:prstGeom>
          <a:noFill/>
        </p:spPr>
        <p:txBody>
          <a:bodyPr wrap="square" anchor="t">
            <a:spAutoFit/>
          </a:bodyPr>
          <a:lstStyle/>
          <a:p>
            <a:pPr algn="l"/>
            <a:r>
              <a:rPr sz="1400" b="0" i="0">
                <a:solidFill>
                  <a:srgbClr val="1F1F1F"/>
                </a:solidFill>
                <a:latin typeface="Tahoma"/>
              </a:rPr>
              <a:t>Honor confidentiality</a:t>
            </a:r>
          </a:p>
        </p:txBody>
      </p:sp>
      <p:sp>
        <p:nvSpPr>
          <p:cNvPr id="25" name="TextBox 24"/>
          <p:cNvSpPr txBox="1"/>
          <p:nvPr/>
        </p:nvSpPr>
        <p:spPr>
          <a:xfrm>
            <a:off x="457200" y="5486400"/>
            <a:ext cx="11247120" cy="365760"/>
          </a:xfrm>
          <a:prstGeom prst="rect">
            <a:avLst/>
          </a:prstGeom>
          <a:noFill/>
        </p:spPr>
        <p:txBody>
          <a:bodyPr wrap="square" anchor="t">
            <a:spAutoFit/>
          </a:bodyPr>
          <a:lstStyle/>
          <a:p>
            <a:pPr algn="ctr"/>
            <a:r>
              <a:rPr sz="1400" b="1" i="1">
                <a:solidFill>
                  <a:srgbClr val="BF9000"/>
                </a:solidFill>
                <a:latin typeface="Tahoma"/>
              </a:rPr>
              <a:t>Tips 11–13: English is a programming language · Build docs in, don't bolt on</a:t>
            </a:r>
          </a:p>
        </p:txBody>
      </p:sp>
      <p:sp>
        <p:nvSpPr>
          <p:cNvPr id="26" name="TextBox 25"/>
          <p:cNvSpPr txBox="1"/>
          <p:nvPr/>
        </p:nvSpPr>
        <p:spPr>
          <a:xfrm>
            <a:off x="457200" y="5852160"/>
            <a:ext cx="11247120" cy="365760"/>
          </a:xfrm>
          <a:prstGeom prst="rect">
            <a:avLst/>
          </a:prstGeom>
          <a:noFill/>
        </p:spPr>
        <p:txBody>
          <a:bodyPr wrap="square" anchor="t">
            <a:spAutoFit/>
          </a:bodyPr>
          <a:lstStyle/>
          <a:p>
            <a:pPr algn="ctr"/>
            <a:r>
              <a:rPr sz="1400" b="0" i="1">
                <a:solidFill>
                  <a:srgbClr val="595959"/>
                </a:solidFill>
                <a:latin typeface="Tahoma"/>
              </a:rPr>
              <a:t>สื่อสารเหมือนเขียนโค้ด — DRY · ETC · Automation</a:t>
            </a:r>
          </a:p>
        </p:txBody>
      </p:sp>
      <p:sp>
        <p:nvSpPr>
          <p:cNvPr id="27" name="TextBox 26"/>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28" name="TextBox 27"/>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Lab 1 — First Pragmatic Commit</a:t>
            </a:r>
          </a:p>
        </p:txBody>
      </p:sp>
      <p:sp>
        <p:nvSpPr>
          <p:cNvPr id="3" name="Rectangle 2"/>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17320"/>
            <a:ext cx="11247120" cy="365760"/>
          </a:xfrm>
          <a:prstGeom prst="rect">
            <a:avLst/>
          </a:prstGeom>
          <a:noFill/>
        </p:spPr>
        <p:txBody>
          <a:bodyPr wrap="square" anchor="t">
            <a:spAutoFit/>
          </a:bodyPr>
          <a:lstStyle/>
          <a:p>
            <a:pPr algn="ctr"/>
            <a:r>
              <a:rPr sz="1500" b="0" i="1">
                <a:solidFill>
                  <a:srgbClr val="595959"/>
                </a:solidFill>
                <a:latin typeface="Tahoma"/>
              </a:rPr>
              <a:t>เป้าหมาย: ตั้งค่า Git + GitHub + ทำ Commit แรกที่ตรงหลัก 'Pragmatic'</a:t>
            </a:r>
          </a:p>
        </p:txBody>
      </p:sp>
      <p:sp>
        <p:nvSpPr>
          <p:cNvPr id="5" name="Rounded Rectangle 4"/>
          <p:cNvSpPr/>
          <p:nvPr/>
        </p:nvSpPr>
        <p:spPr>
          <a:xfrm>
            <a:off x="457200" y="1920240"/>
            <a:ext cx="5669280" cy="3840480"/>
          </a:xfrm>
          <a:prstGeom prst="roundRect">
            <a:avLst/>
          </a:prstGeom>
          <a:solidFill>
            <a:srgbClr val="D9E2F3"/>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r>
              <a:rPr sz="1600" i="0" b="1">
                <a:solidFill>
                  <a:srgbClr val="1F4E79"/>
                </a:solidFill>
                <a:latin typeface="Tahoma"/>
              </a:rPr>
              <a:t>Setup Checklist</a:t>
            </a:r>
          </a:p>
          <a:p>
            <a:pPr>
              <a:spcAft>
                <a:spcPts val="200"/>
              </a:spcAft>
            </a:pPr>
            <a:r>
              <a:rPr sz="1300">
                <a:solidFill>
                  <a:srgbClr val="1F1F1F"/>
                </a:solidFill>
                <a:latin typeface="Tahoma"/>
              </a:rPr>
              <a:t>☐ ติดตั้ง Git และตั้งค่า user.name / user.email</a:t>
            </a:r>
          </a:p>
          <a:p>
            <a:pPr>
              <a:spcAft>
                <a:spcPts val="200"/>
              </a:spcAft>
            </a:pPr>
            <a:r>
              <a:rPr sz="1300">
                <a:solidFill>
                  <a:srgbClr val="1F1F1F"/>
                </a:solidFill>
                <a:latin typeface="Tahoma"/>
              </a:rPr>
              <a:t>☐ สร้าง GitHub account (ถ้ายังไม่มี)</a:t>
            </a:r>
          </a:p>
          <a:p>
            <a:pPr>
              <a:spcAft>
                <a:spcPts val="200"/>
              </a:spcAft>
            </a:pPr>
            <a:r>
              <a:rPr sz="1300">
                <a:solidFill>
                  <a:srgbClr val="1F1F1F"/>
                </a:solidFill>
                <a:latin typeface="Tahoma"/>
              </a:rPr>
              <a:t>☐ ติดตั้ง VS Code หรือ PyCharm + ส่วนขยาย Git</a:t>
            </a:r>
          </a:p>
          <a:p>
            <a:pPr>
              <a:spcAft>
                <a:spcPts val="200"/>
              </a:spcAft>
            </a:pPr>
            <a:r>
              <a:rPr sz="1300">
                <a:solidFill>
                  <a:srgbClr val="1F1F1F"/>
                </a:solidFill>
                <a:latin typeface="Tahoma"/>
              </a:rPr>
              <a:t>☐ รับเชิญเข้า GitHub Organization ของรายวิชา</a:t>
            </a:r>
          </a:p>
          <a:p>
            <a:pPr>
              <a:spcAft>
                <a:spcPts val="200"/>
              </a:spcAft>
            </a:pPr>
            <a:r>
              <a:rPr sz="1300">
                <a:solidFill>
                  <a:srgbClr val="1F1F1F"/>
                </a:solidFill>
                <a:latin typeface="Tahoma"/>
              </a:rPr>
              <a:t>☐ Fork repo lab01-template → clone ลงเครื่อง</a:t>
            </a:r>
          </a:p>
          <a:p>
            <a:pPr>
              <a:spcAft>
                <a:spcPts val="200"/>
              </a:spcAft>
            </a:pPr>
            <a:r>
              <a:rPr sz="1300">
                <a:solidFill>
                  <a:srgbClr val="1F1F1F"/>
                </a:solidFill>
                <a:latin typeface="Tahoma"/>
              </a:rPr>
              <a:t>☐ สร้าง branch: git checkout -b lab01-&lt;username&gt;</a:t>
            </a:r>
          </a:p>
          <a:p>
            <a:pPr>
              <a:spcAft>
                <a:spcPts val="200"/>
              </a:spcAft>
            </a:pPr>
            <a:r>
              <a:rPr sz="1300">
                <a:solidFill>
                  <a:srgbClr val="1F1F1F"/>
                </a:solidFill>
                <a:latin typeface="Tahoma"/>
              </a:rPr>
              <a:t>☐ เขียนไฟล์ README.md + ABOUTME.md</a:t>
            </a:r>
          </a:p>
          <a:p>
            <a:pPr>
              <a:spcAft>
                <a:spcPts val="200"/>
              </a:spcAft>
            </a:pPr>
            <a:r>
              <a:rPr sz="1300">
                <a:solidFill>
                  <a:srgbClr val="1F1F1F"/>
                </a:solidFill>
                <a:latin typeface="Tahoma"/>
              </a:rPr>
              <a:t>☐ commit ตาม conventional commits (feat:, docs:)</a:t>
            </a:r>
          </a:p>
          <a:p>
            <a:pPr>
              <a:spcAft>
                <a:spcPts val="200"/>
              </a:spcAft>
            </a:pPr>
            <a:r>
              <a:rPr sz="1300">
                <a:solidFill>
                  <a:srgbClr val="1F1F1F"/>
                </a:solidFill>
                <a:latin typeface="Tahoma"/>
              </a:rPr>
              <a:t>☐ push + เปิด Pull Request เข้า main</a:t>
            </a:r>
          </a:p>
          <a:p>
            <a:pPr>
              <a:spcAft>
                <a:spcPts val="200"/>
              </a:spcAft>
            </a:pPr>
            <a:r>
              <a:rPr sz="1300">
                <a:solidFill>
                  <a:srgbClr val="1F1F1F"/>
                </a:solidFill>
                <a:latin typeface="Tahoma"/>
              </a:rPr>
              <a:t>☐ pass CI checks (lint + format)</a:t>
            </a:r>
          </a:p>
        </p:txBody>
      </p:sp>
      <p:sp>
        <p:nvSpPr>
          <p:cNvPr id="6" name="Rounded Rectangle 5"/>
          <p:cNvSpPr/>
          <p:nvPr/>
        </p:nvSpPr>
        <p:spPr>
          <a:xfrm>
            <a:off x="6400800" y="1920240"/>
            <a:ext cx="5486400" cy="38404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r>
              <a:rPr sz="1600" i="0" b="1">
                <a:solidFill>
                  <a:srgbClr val="BF9000"/>
                </a:solidFill>
                <a:latin typeface="Tahoma"/>
              </a:rPr>
              <a:t>Deliverables (ครบใน 2 ชม.)</a:t>
            </a:r>
          </a:p>
          <a:p>
            <a:pPr>
              <a:spcAft>
                <a:spcPts val="200"/>
              </a:spcAft>
            </a:pPr>
            <a:r>
              <a:rPr sz="1200">
                <a:solidFill>
                  <a:srgbClr val="1F1F1F"/>
                </a:solidFill>
                <a:latin typeface="Tahoma"/>
              </a:rPr>
              <a:t>✅ README.md ที่อธิบายเป้าหมายสัปดาห์นี้</a:t>
            </a:r>
          </a:p>
          <a:p>
            <a:pPr>
              <a:spcAft>
                <a:spcPts val="200"/>
              </a:spcAft>
            </a:pPr>
            <a:r>
              <a:rPr sz="1200">
                <a:solidFill>
                  <a:srgbClr val="1F1F1F"/>
                </a:solidFill>
                <a:latin typeface="Tahoma"/>
              </a:rPr>
              <a:t>✅ ABOUTME.md (แนะนำตัวเอง 1 หน้า)</a:t>
            </a:r>
          </a:p>
          <a:p>
            <a:pPr>
              <a:spcAft>
                <a:spcPts val="200"/>
              </a:spcAft>
            </a:pPr>
            <a:r>
              <a:rPr sz="1200">
                <a:solidFill>
                  <a:srgbClr val="1F1F1F"/>
                </a:solidFill>
                <a:latin typeface="Tahoma"/>
              </a:rPr>
              <a:t>✅ Commit messages ที่สื่อความหมาย</a:t>
            </a:r>
          </a:p>
          <a:p>
            <a:pPr>
              <a:spcAft>
                <a:spcPts val="200"/>
              </a:spcAft>
            </a:pPr>
            <a:r>
              <a:rPr sz="1200">
                <a:solidFill>
                  <a:srgbClr val="1F1F1F"/>
                </a:solidFill>
                <a:latin typeface="Tahoma"/>
              </a:rPr>
              <a:t>✅ PR ผ่าน review จากเพื่อนร่วมทีม</a:t>
            </a:r>
          </a:p>
          <a:p>
            <a:pPr>
              <a:spcAft>
                <a:spcPts val="200"/>
              </a:spcAft>
            </a:pPr>
            <a:r>
              <a:rPr sz="1200">
                <a:solidFill>
                  <a:srgbClr val="1F1F1F"/>
                </a:solidFill>
                <a:latin typeface="Tahoma"/>
              </a:rPr>
              <a:t/>
            </a:r>
          </a:p>
          <a:p>
            <a:pPr>
              <a:spcAft>
                <a:spcPts val="200"/>
              </a:spcAft>
            </a:pPr>
            <a:r>
              <a:rPr sz="1200">
                <a:solidFill>
                  <a:srgbClr val="1F1F1F"/>
                </a:solidFill>
                <a:latin typeface="Tahoma"/>
              </a:rPr>
              <a:t>เกณฑ์ประเมิน:</a:t>
            </a:r>
          </a:p>
          <a:p>
            <a:pPr>
              <a:spcAft>
                <a:spcPts val="200"/>
              </a:spcAft>
            </a:pPr>
            <a:r>
              <a:rPr sz="1200">
                <a:solidFill>
                  <a:srgbClr val="1F1F1F"/>
                </a:solidFill>
                <a:latin typeface="Tahoma"/>
              </a:rPr>
              <a:t>• Completion + Effort (ทำครบ + แสดงความพยายาม)</a:t>
            </a:r>
          </a:p>
          <a:p>
            <a:pPr>
              <a:spcAft>
                <a:spcPts val="200"/>
              </a:spcAft>
            </a:pPr>
            <a:r>
              <a:rPr sz="1200">
                <a:solidFill>
                  <a:srgbClr val="1F1F1F"/>
                </a:solidFill>
                <a:latin typeface="Tahoma"/>
              </a:rPr>
              <a:t>• ไม่มี broken windows (lint pass)</a:t>
            </a:r>
          </a:p>
          <a:p>
            <a:pPr>
              <a:spcAft>
                <a:spcPts val="200"/>
              </a:spcAft>
            </a:pPr>
            <a:r>
              <a:rPr sz="1200">
                <a:solidFill>
                  <a:srgbClr val="1F1F1F"/>
                </a:solidFill>
                <a:latin typeface="Tahoma"/>
              </a:rPr>
              <a:t>• PR workflow ถูกต้อง (branch + PR + review)</a:t>
            </a:r>
          </a:p>
          <a:p>
            <a:pPr>
              <a:spcAft>
                <a:spcPts val="200"/>
              </a:spcAft>
            </a:pPr>
            <a:r>
              <a:rPr sz="1200">
                <a:solidFill>
                  <a:srgbClr val="1F1F1F"/>
                </a:solidFill>
                <a:latin typeface="Tahoma"/>
              </a:rPr>
              <a:t>• นำ AI ใช้ใน README อย่างโปร่งใส</a:t>
            </a:r>
          </a:p>
        </p:txBody>
      </p:sp>
      <p:sp>
        <p:nvSpPr>
          <p:cNvPr id="7" name="TextBox 6"/>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8" name="TextBox 7"/>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Post-quiz — ท้ายคาบ 1:45–2:00</a:t>
            </a:r>
          </a:p>
        </p:txBody>
      </p:sp>
      <p:sp>
        <p:nvSpPr>
          <p:cNvPr id="3" name="TextBox 2"/>
          <p:cNvSpPr txBox="1"/>
          <p:nvPr/>
        </p:nvSpPr>
        <p:spPr>
          <a:xfrm>
            <a:off x="457200" y="868680"/>
            <a:ext cx="11247120" cy="365760"/>
          </a:xfrm>
          <a:prstGeom prst="rect">
            <a:avLst/>
          </a:prstGeom>
          <a:noFill/>
        </p:spPr>
        <p:txBody>
          <a:bodyPr wrap="square" anchor="t">
            <a:spAutoFit/>
          </a:bodyPr>
          <a:lstStyle/>
          <a:p>
            <a:pPr algn="l"/>
            <a:r>
              <a:rPr sz="1600" b="0" i="1">
                <a:solidFill>
                  <a:srgbClr val="595959"/>
                </a:solidFill>
                <a:latin typeface="Tahoma"/>
              </a:rPr>
              <a:t>Reflection · Section B (formative) · Bridge to Lab 1</a:t>
            </a:r>
          </a:p>
        </p:txBody>
      </p:sp>
      <p:sp>
        <p:nvSpPr>
          <p:cNvPr id="4" name="Rectangle 3"/>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1247120" cy="365760"/>
          </a:xfrm>
          <a:prstGeom prst="rect">
            <a:avLst/>
          </a:prstGeom>
          <a:noFill/>
        </p:spPr>
        <p:txBody>
          <a:bodyPr wrap="square" anchor="t">
            <a:spAutoFit/>
          </a:bodyPr>
          <a:lstStyle/>
          <a:p>
            <a:pPr algn="l"/>
            <a:r>
              <a:rPr sz="1500" b="0" i="1">
                <a:solidFill>
                  <a:srgbClr val="595959"/>
                </a:solidFill>
                <a:latin typeface="Tahoma"/>
              </a:rPr>
              <a:t>ท้ายบรรยายก่อนไป Lab 1 — เขียน 3 reflection → commit เป็น reflect.md</a:t>
            </a:r>
          </a:p>
        </p:txBody>
      </p:sp>
      <p:sp>
        <p:nvSpPr>
          <p:cNvPr id="6" name="Oval 5"/>
          <p:cNvSpPr/>
          <p:nvPr/>
        </p:nvSpPr>
        <p:spPr>
          <a:xfrm>
            <a:off x="640080" y="1965960"/>
            <a:ext cx="411480" cy="41148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65960"/>
            <a:ext cx="411480" cy="411480"/>
          </a:xfrm>
          <a:prstGeom prst="rect">
            <a:avLst/>
          </a:prstGeom>
          <a:noFill/>
        </p:spPr>
        <p:txBody>
          <a:bodyPr wrap="square" anchor="t">
            <a:spAutoFit/>
          </a:bodyPr>
          <a:lstStyle/>
          <a:p>
            <a:pPr algn="ctr"/>
            <a:r>
              <a:rPr sz="1200" b="1" i="0">
                <a:solidFill>
                  <a:srgbClr val="FFFFFF"/>
                </a:solidFill>
                <a:latin typeface="Tahoma"/>
              </a:rPr>
              <a:t>B1. Apply</a:t>
            </a:r>
          </a:p>
        </p:txBody>
      </p:sp>
      <p:sp>
        <p:nvSpPr>
          <p:cNvPr id="8" name="TextBox 7"/>
          <p:cNvSpPr txBox="1"/>
          <p:nvPr/>
        </p:nvSpPr>
        <p:spPr>
          <a:xfrm>
            <a:off x="1188720" y="1920240"/>
            <a:ext cx="10698480" cy="365760"/>
          </a:xfrm>
          <a:prstGeom prst="rect">
            <a:avLst/>
          </a:prstGeom>
          <a:noFill/>
        </p:spPr>
        <p:txBody>
          <a:bodyPr wrap="square" anchor="t">
            <a:spAutoFit/>
          </a:bodyPr>
          <a:lstStyle/>
          <a:p>
            <a:pPr algn="l"/>
            <a:r>
              <a:rPr sz="1600" b="1" i="0">
                <a:solidFill>
                  <a:srgbClr val="1F4E79"/>
                </a:solidFill>
                <a:latin typeface="Tahoma"/>
              </a:rPr>
              <a:t>B1. Apply — Vision Filter</a:t>
            </a:r>
          </a:p>
        </p:txBody>
      </p:sp>
      <p:sp>
        <p:nvSpPr>
          <p:cNvPr id="9" name="TextBox 8"/>
          <p:cNvSpPr txBox="1"/>
          <p:nvPr/>
        </p:nvSpPr>
        <p:spPr>
          <a:xfrm>
            <a:off x="1188720" y="2331720"/>
            <a:ext cx="10698480" cy="548640"/>
          </a:xfrm>
          <a:prstGeom prst="rect">
            <a:avLst/>
          </a:prstGeom>
          <a:noFill/>
        </p:spPr>
        <p:txBody>
          <a:bodyPr wrap="square" anchor="t">
            <a:spAutoFit/>
          </a:bodyPr>
          <a:lstStyle/>
          <a:p>
            <a:pPr algn="l"/>
            <a:r>
              <a:rPr sz="1400" b="0" i="0">
                <a:solidFill>
                  <a:srgbClr val="1F1F1F"/>
                </a:solidFill>
                <a:latin typeface="Tahoma"/>
              </a:rPr>
              <a:t>→ Pragmatic Pomodoro + feature "AI แนะนำ routine" → ใช้ Vision Statement ตัดสินใจอย่างไร? (2–3 ประโยค)</a:t>
            </a:r>
          </a:p>
        </p:txBody>
      </p:sp>
      <p:sp>
        <p:nvSpPr>
          <p:cNvPr id="10" name="Oval 9"/>
          <p:cNvSpPr/>
          <p:nvPr/>
        </p:nvSpPr>
        <p:spPr>
          <a:xfrm>
            <a:off x="640080" y="3063239"/>
            <a:ext cx="411480" cy="41148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063239"/>
            <a:ext cx="411480" cy="411480"/>
          </a:xfrm>
          <a:prstGeom prst="rect">
            <a:avLst/>
          </a:prstGeom>
          <a:noFill/>
        </p:spPr>
        <p:txBody>
          <a:bodyPr wrap="square" anchor="t">
            <a:spAutoFit/>
          </a:bodyPr>
          <a:lstStyle/>
          <a:p>
            <a:pPr algn="ctr"/>
            <a:r>
              <a:rPr sz="1200" b="1" i="0">
                <a:solidFill>
                  <a:srgbClr val="FFFFFF"/>
                </a:solidFill>
                <a:latin typeface="Tahoma"/>
              </a:rPr>
              <a:t>B2. Connect</a:t>
            </a:r>
          </a:p>
        </p:txBody>
      </p:sp>
      <p:sp>
        <p:nvSpPr>
          <p:cNvPr id="12" name="TextBox 11"/>
          <p:cNvSpPr txBox="1"/>
          <p:nvPr/>
        </p:nvSpPr>
        <p:spPr>
          <a:xfrm>
            <a:off x="1188720" y="3017520"/>
            <a:ext cx="10698480" cy="365760"/>
          </a:xfrm>
          <a:prstGeom prst="rect">
            <a:avLst/>
          </a:prstGeom>
          <a:noFill/>
        </p:spPr>
        <p:txBody>
          <a:bodyPr wrap="square" anchor="t">
            <a:spAutoFit/>
          </a:bodyPr>
          <a:lstStyle/>
          <a:p>
            <a:pPr algn="l"/>
            <a:r>
              <a:rPr sz="1600" b="1" i="0">
                <a:solidFill>
                  <a:srgbClr val="C00000"/>
                </a:solidFill>
                <a:latin typeface="Tahoma"/>
              </a:rPr>
              <a:t>B2. Connect — Broken Window</a:t>
            </a:r>
          </a:p>
        </p:txBody>
      </p:sp>
      <p:sp>
        <p:nvSpPr>
          <p:cNvPr id="13" name="TextBox 12"/>
          <p:cNvSpPr txBox="1"/>
          <p:nvPr/>
        </p:nvSpPr>
        <p:spPr>
          <a:xfrm>
            <a:off x="1188720" y="3429000"/>
            <a:ext cx="10698480" cy="548640"/>
          </a:xfrm>
          <a:prstGeom prst="rect">
            <a:avLst/>
          </a:prstGeom>
          <a:noFill/>
        </p:spPr>
        <p:txBody>
          <a:bodyPr wrap="square" anchor="t">
            <a:spAutoFit/>
          </a:bodyPr>
          <a:lstStyle/>
          <a:p>
            <a:pPr algn="l"/>
            <a:r>
              <a:rPr sz="1400" b="0" i="0">
                <a:solidFill>
                  <a:srgbClr val="1F1F1F"/>
                </a:solidFill>
                <a:latin typeface="Tahoma"/>
              </a:rPr>
              <a:t>→ เลือก broken window 1 อย่างในชีวิตจริง → window คืออะไร / ส่งผลอย่างไร / ถ้าซ่อมทันทีป้องกันอะไร</a:t>
            </a:r>
          </a:p>
        </p:txBody>
      </p:sp>
      <p:sp>
        <p:nvSpPr>
          <p:cNvPr id="14" name="Oval 13"/>
          <p:cNvSpPr/>
          <p:nvPr/>
        </p:nvSpPr>
        <p:spPr>
          <a:xfrm>
            <a:off x="640080" y="4160520"/>
            <a:ext cx="411480" cy="411480"/>
          </a:xfrm>
          <a:prstGeom prst="ellipse">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160520"/>
            <a:ext cx="411480" cy="411480"/>
          </a:xfrm>
          <a:prstGeom prst="rect">
            <a:avLst/>
          </a:prstGeom>
          <a:noFill/>
        </p:spPr>
        <p:txBody>
          <a:bodyPr wrap="square" anchor="t">
            <a:spAutoFit/>
          </a:bodyPr>
          <a:lstStyle/>
          <a:p>
            <a:pPr algn="ctr"/>
            <a:r>
              <a:rPr sz="1200" b="1" i="0">
                <a:solidFill>
                  <a:srgbClr val="FFFFFF"/>
                </a:solidFill>
                <a:latin typeface="Tahoma"/>
              </a:rPr>
              <a:t>B3. Reflect</a:t>
            </a:r>
          </a:p>
        </p:txBody>
      </p:sp>
      <p:sp>
        <p:nvSpPr>
          <p:cNvPr id="16" name="TextBox 15"/>
          <p:cNvSpPr txBox="1"/>
          <p:nvPr/>
        </p:nvSpPr>
        <p:spPr>
          <a:xfrm>
            <a:off x="1188720" y="4114800"/>
            <a:ext cx="10698480" cy="365760"/>
          </a:xfrm>
          <a:prstGeom prst="rect">
            <a:avLst/>
          </a:prstGeom>
          <a:noFill/>
        </p:spPr>
        <p:txBody>
          <a:bodyPr wrap="square" anchor="t">
            <a:spAutoFit/>
          </a:bodyPr>
          <a:lstStyle/>
          <a:p>
            <a:pPr algn="l"/>
            <a:r>
              <a:rPr sz="1600" b="1" i="0">
                <a:solidFill>
                  <a:srgbClr val="70AD47"/>
                </a:solidFill>
                <a:latin typeface="Tahoma"/>
              </a:rPr>
              <a:t>B3. Reflect — Pragmatic Promise</a:t>
            </a:r>
          </a:p>
        </p:txBody>
      </p:sp>
      <p:sp>
        <p:nvSpPr>
          <p:cNvPr id="17" name="TextBox 16"/>
          <p:cNvSpPr txBox="1"/>
          <p:nvPr/>
        </p:nvSpPr>
        <p:spPr>
          <a:xfrm>
            <a:off x="1188720" y="4526280"/>
            <a:ext cx="10698480" cy="548640"/>
          </a:xfrm>
          <a:prstGeom prst="rect">
            <a:avLst/>
          </a:prstGeom>
          <a:noFill/>
        </p:spPr>
        <p:txBody>
          <a:bodyPr wrap="square" anchor="t">
            <a:spAutoFit/>
          </a:bodyPr>
          <a:lstStyle/>
          <a:p>
            <a:pPr algn="l"/>
            <a:r>
              <a:rPr sz="1400" b="0" i="0">
                <a:solidFill>
                  <a:srgbClr val="1F1F1F"/>
                </a:solidFill>
                <a:latin typeface="Tahoma"/>
              </a:rPr>
              <a:t>→ เขียน 1 ประโยค — พฤติกรรม concrete ที่จะเริ่มทำตั้งแต่วันนี้ (ใช้ต่อใน Lab 1 team/&lt;name&gt;.md)</a:t>
            </a:r>
          </a:p>
        </p:txBody>
      </p:sp>
      <p:sp>
        <p:nvSpPr>
          <p:cNvPr id="18" name="TextBox 17"/>
          <p:cNvSpPr txBox="1"/>
          <p:nvPr/>
        </p:nvSpPr>
        <p:spPr>
          <a:xfrm>
            <a:off x="457200" y="6035040"/>
            <a:ext cx="11247120" cy="365760"/>
          </a:xfrm>
          <a:prstGeom prst="rect">
            <a:avLst/>
          </a:prstGeom>
          <a:noFill/>
        </p:spPr>
        <p:txBody>
          <a:bodyPr wrap="square" anchor="t">
            <a:spAutoFit/>
          </a:bodyPr>
          <a:lstStyle/>
          <a:p>
            <a:pPr algn="ctr"/>
            <a:r>
              <a:rPr sz="1300" b="1" i="1">
                <a:solidFill>
                  <a:srgbClr val="BF9000"/>
                </a:solidFill>
                <a:latin typeface="Tahoma"/>
              </a:rPr>
              <a:t>🎯 ส่ง: branch feature/post-quiz-1 → reflect.md → PR (merge พร้อม Lab 1)</a:t>
            </a:r>
          </a:p>
        </p:txBody>
      </p:sp>
      <p:sp>
        <p:nvSpPr>
          <p:cNvPr id="19" name="TextBox 18"/>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20" name="TextBox 19"/>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nchor="t">
            <a:spAutoFit/>
          </a:bodyPr>
          <a:lstStyle/>
          <a:p>
            <a:pPr algn="l"/>
            <a:r>
              <a:rPr sz="3200" b="1" i="0">
                <a:solidFill>
                  <a:srgbClr val="1F4E79"/>
                </a:solidFill>
                <a:latin typeface="Tahoma"/>
              </a:rPr>
              <a:t>สรุปสาระสำคัญ + เตรียมพบกันใหม่สัปดาห์หน้า</a:t>
            </a:r>
          </a:p>
        </p:txBody>
      </p:sp>
      <p:sp>
        <p:nvSpPr>
          <p:cNvPr id="3" name="Rectangle 2"/>
          <p:cNvSpPr/>
          <p:nvPr/>
        </p:nvSpPr>
        <p:spPr>
          <a:xfrm>
            <a:off x="457200" y="1188720"/>
            <a:ext cx="18288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17320"/>
            <a:ext cx="5669280" cy="457200"/>
          </a:xfrm>
          <a:prstGeom prst="rect">
            <a:avLst/>
          </a:prstGeom>
          <a:noFill/>
        </p:spPr>
        <p:txBody>
          <a:bodyPr wrap="square" anchor="t">
            <a:spAutoFit/>
          </a:bodyPr>
          <a:lstStyle/>
          <a:p>
            <a:pPr algn="l"/>
            <a:r>
              <a:rPr sz="2000" b="1" i="0">
                <a:solidFill>
                  <a:srgbClr val="1F4E79"/>
                </a:solidFill>
                <a:latin typeface="Tahoma"/>
              </a:rPr>
              <a:t>4 Take-aways จากวันนี้</a:t>
            </a:r>
          </a:p>
        </p:txBody>
      </p:sp>
      <p:sp>
        <p:nvSpPr>
          <p:cNvPr id="5" name="Oval 4"/>
          <p:cNvSpPr/>
          <p:nvPr/>
        </p:nvSpPr>
        <p:spPr>
          <a:xfrm>
            <a:off x="548640" y="2103120"/>
            <a:ext cx="228600" cy="2286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5212080" cy="365760"/>
          </a:xfrm>
          <a:prstGeom prst="rect">
            <a:avLst/>
          </a:prstGeom>
          <a:noFill/>
        </p:spPr>
        <p:txBody>
          <a:bodyPr wrap="square" anchor="t">
            <a:spAutoFit/>
          </a:bodyPr>
          <a:lstStyle/>
          <a:p>
            <a:pPr algn="l"/>
            <a:r>
              <a:rPr sz="1500" b="1" i="0">
                <a:solidFill>
                  <a:srgbClr val="1F1F1F"/>
                </a:solidFill>
                <a:latin typeface="Tahoma"/>
              </a:rPr>
              <a:t>Product ≠ Project — ดูแลต่อเนื่อง</a:t>
            </a:r>
          </a:p>
        </p:txBody>
      </p:sp>
      <p:sp>
        <p:nvSpPr>
          <p:cNvPr id="7" name="Oval 6"/>
          <p:cNvSpPr/>
          <p:nvPr/>
        </p:nvSpPr>
        <p:spPr>
          <a:xfrm>
            <a:off x="548640" y="2880360"/>
            <a:ext cx="228600" cy="2286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788920"/>
            <a:ext cx="5212080" cy="365760"/>
          </a:xfrm>
          <a:prstGeom prst="rect">
            <a:avLst/>
          </a:prstGeom>
          <a:noFill/>
        </p:spPr>
        <p:txBody>
          <a:bodyPr wrap="square" anchor="t">
            <a:spAutoFit/>
          </a:bodyPr>
          <a:lstStyle/>
          <a:p>
            <a:pPr algn="l"/>
            <a:r>
              <a:rPr sz="1500" b="1" i="0">
                <a:solidFill>
                  <a:srgbClr val="1F1F1F"/>
                </a:solidFill>
                <a:latin typeface="Tahoma"/>
              </a:rPr>
              <a:t>Pragmatic = Ownership + Options + Quality</a:t>
            </a:r>
          </a:p>
        </p:txBody>
      </p:sp>
      <p:sp>
        <p:nvSpPr>
          <p:cNvPr id="9" name="Oval 8"/>
          <p:cNvSpPr/>
          <p:nvPr/>
        </p:nvSpPr>
        <p:spPr>
          <a:xfrm>
            <a:off x="548640" y="3657600"/>
            <a:ext cx="228600" cy="2286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5212080" cy="365760"/>
          </a:xfrm>
          <a:prstGeom prst="rect">
            <a:avLst/>
          </a:prstGeom>
          <a:noFill/>
        </p:spPr>
        <p:txBody>
          <a:bodyPr wrap="square" anchor="t">
            <a:spAutoFit/>
          </a:bodyPr>
          <a:lstStyle/>
          <a:p>
            <a:pPr algn="l"/>
            <a:r>
              <a:rPr sz="1500" b="1" i="0">
                <a:solidFill>
                  <a:srgbClr val="1F1F1F"/>
                </a:solidFill>
                <a:latin typeface="Tahoma"/>
              </a:rPr>
              <a:t>Broken Windows — ซ่อมเล็กก่อนใหญ่พัง</a:t>
            </a:r>
          </a:p>
        </p:txBody>
      </p:sp>
      <p:sp>
        <p:nvSpPr>
          <p:cNvPr id="11" name="Oval 10"/>
          <p:cNvSpPr/>
          <p:nvPr/>
        </p:nvSpPr>
        <p:spPr>
          <a:xfrm>
            <a:off x="548640" y="4434840"/>
            <a:ext cx="228600" cy="2286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343400"/>
            <a:ext cx="5212080" cy="365760"/>
          </a:xfrm>
          <a:prstGeom prst="rect">
            <a:avLst/>
          </a:prstGeom>
          <a:noFill/>
        </p:spPr>
        <p:txBody>
          <a:bodyPr wrap="square" anchor="t">
            <a:spAutoFit/>
          </a:bodyPr>
          <a:lstStyle/>
          <a:p>
            <a:pPr algn="l"/>
            <a:r>
              <a:rPr sz="1500" b="1" i="0">
                <a:solidFill>
                  <a:srgbClr val="1F1F1F"/>
                </a:solidFill>
                <a:latin typeface="Tahoma"/>
              </a:rPr>
              <a:t>Knowledge Portfolio — ลงทุนตัวเองทุกสัปดาห์</a:t>
            </a:r>
          </a:p>
        </p:txBody>
      </p:sp>
      <p:sp>
        <p:nvSpPr>
          <p:cNvPr id="13" name="Rounded Rectangle 12"/>
          <p:cNvSpPr/>
          <p:nvPr/>
        </p:nvSpPr>
        <p:spPr>
          <a:xfrm>
            <a:off x="6400800" y="1417320"/>
            <a:ext cx="5486400" cy="4114800"/>
          </a:xfrm>
          <a:prstGeom prst="roundRect">
            <a:avLst/>
          </a:prstGeom>
          <a:solidFill>
            <a:srgbClr val="1F4E79"/>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r>
              <a:rPr sz="2000" b="1">
                <a:solidFill>
                  <a:srgbClr val="BF9000"/>
                </a:solidFill>
                <a:latin typeface="Tahoma"/>
              </a:rPr>
              <a:t>สัปดาห์หน้า</a:t>
            </a:r>
          </a:p>
          <a:p>
            <a:pPr>
              <a:spcAft>
                <a:spcPts val="300"/>
              </a:spcAft>
            </a:pPr>
            <a:r>
              <a:rPr sz="2600">
                <a:solidFill>
                  <a:srgbClr val="FFFFFF"/>
                </a:solidFill>
                <a:latin typeface="Tahoma"/>
              </a:rPr>
              <a:t>W2 · Agile</a:t>
            </a:r>
          </a:p>
          <a:p>
            <a:pPr>
              <a:spcAft>
                <a:spcPts val="300"/>
              </a:spcAft>
            </a:pPr>
            <a:r>
              <a:rPr sz="500">
                <a:solidFill>
                  <a:srgbClr val="FFFFFF"/>
                </a:solidFill>
                <a:latin typeface="Tahoma"/>
              </a:rPr>
              <a:t/>
            </a:r>
          </a:p>
          <a:p>
            <a:pPr>
              <a:spcAft>
                <a:spcPts val="300"/>
              </a:spcAft>
            </a:pPr>
            <a:r>
              <a:rPr sz="1600">
                <a:solidFill>
                  <a:srgbClr val="D9E2F3"/>
                </a:solidFill>
                <a:latin typeface="Tahoma"/>
              </a:rPr>
              <a:t>• Agile Manifesto + Scrum</a:t>
            </a:r>
          </a:p>
          <a:p>
            <a:pPr>
              <a:spcAft>
                <a:spcPts val="300"/>
              </a:spcAft>
            </a:pPr>
            <a:r>
              <a:rPr sz="1600">
                <a:solidFill>
                  <a:srgbClr val="D9E2F3"/>
                </a:solidFill>
                <a:latin typeface="Tahoma"/>
              </a:rPr>
              <a:t>• Sprint Planning + Retro</a:t>
            </a:r>
          </a:p>
          <a:p>
            <a:pPr>
              <a:spcAft>
                <a:spcPts val="300"/>
              </a:spcAft>
            </a:pPr>
            <a:r>
              <a:rPr sz="1600">
                <a:solidFill>
                  <a:srgbClr val="D9E2F3"/>
                </a:solidFill>
                <a:latin typeface="Tahoma"/>
              </a:rPr>
              <a:t>• User Story Estimation</a:t>
            </a:r>
          </a:p>
          <a:p>
            <a:pPr>
              <a:spcAft>
                <a:spcPts val="300"/>
              </a:spcAft>
            </a:pPr>
            <a:r>
              <a:rPr sz="1600">
                <a:solidFill>
                  <a:srgbClr val="D9E2F3"/>
                </a:solidFill>
                <a:latin typeface="Tahoma"/>
              </a:rPr>
              <a:t>• GitHub Projects</a:t>
            </a:r>
          </a:p>
          <a:p>
            <a:pPr>
              <a:spcAft>
                <a:spcPts val="300"/>
              </a:spcAft>
            </a:pPr>
            <a:r>
              <a:rPr sz="500">
                <a:solidFill>
                  <a:srgbClr val="FFFFFF"/>
                </a:solidFill>
                <a:latin typeface="Tahoma"/>
              </a:rPr>
              <a:t/>
            </a:r>
          </a:p>
          <a:p>
            <a:pPr>
              <a:spcAft>
                <a:spcPts val="300"/>
              </a:spcAft>
            </a:pPr>
            <a:r>
              <a:rPr sz="1400">
                <a:solidFill>
                  <a:srgbClr val="BF9000"/>
                </a:solidFill>
                <a:latin typeface="Tahoma"/>
              </a:rPr>
              <a:t>อ่านล่วงหน้า:</a:t>
            </a:r>
          </a:p>
          <a:p>
            <a:pPr>
              <a:spcAft>
                <a:spcPts val="300"/>
              </a:spcAft>
            </a:pPr>
            <a:r>
              <a:rPr sz="1300">
                <a:solidFill>
                  <a:srgbClr val="FFFFFF"/>
                </a:solidFill>
                <a:latin typeface="Tahoma"/>
              </a:rPr>
              <a:t>[SE] Ch.3 — กระบวนการ Agile</a:t>
            </a:r>
          </a:p>
          <a:p>
            <a:pPr>
              <a:spcAft>
                <a:spcPts val="300"/>
              </a:spcAft>
            </a:pPr>
            <a:r>
              <a:rPr sz="1300">
                <a:solidFill>
                  <a:srgbClr val="FFFFFF"/>
                </a:solidFill>
                <a:latin typeface="Tahoma"/>
              </a:rPr>
              <a:t>[PP] Ch.2 — Pragmatic Approach</a:t>
            </a:r>
          </a:p>
          <a:p>
            <a:pPr>
              <a:spcAft>
                <a:spcPts val="300"/>
              </a:spcAft>
            </a:pPr>
            <a:r>
              <a:rPr sz="1300">
                <a:solidFill>
                  <a:srgbClr val="FFFFFF"/>
                </a:solidFill>
                <a:latin typeface="Tahoma"/>
              </a:rPr>
              <a:t>[ESP] Ch.2 (sections 2.4–2.7)</a:t>
            </a:r>
          </a:p>
          <a:p>
            <a:pPr>
              <a:spcAft>
                <a:spcPts val="300"/>
              </a:spcAft>
            </a:pPr>
            <a:r>
              <a:rPr sz="500">
                <a:solidFill>
                  <a:srgbClr val="FFFFFF"/>
                </a:solidFill>
                <a:latin typeface="Tahoma"/>
              </a:rPr>
              <a:t/>
            </a:r>
          </a:p>
          <a:p>
            <a:pPr>
              <a:spcAft>
                <a:spcPts val="300"/>
              </a:spcAft>
            </a:pPr>
            <a:r>
              <a:rPr sz="1400">
                <a:solidFill>
                  <a:srgbClr val="BF9000"/>
                </a:solidFill>
                <a:latin typeface="Tahoma"/>
              </a:rPr>
              <a:t>งานมอบหมาย: Lab 2 (Sprint Zero Setup)</a:t>
            </a:r>
          </a:p>
        </p:txBody>
      </p:sp>
      <p:sp>
        <p:nvSpPr>
          <p:cNvPr id="14" name="TextBox 13"/>
          <p:cNvSpPr txBox="1"/>
          <p:nvPr/>
        </p:nvSpPr>
        <p:spPr>
          <a:xfrm>
            <a:off x="457200" y="5852160"/>
            <a:ext cx="11247120" cy="457200"/>
          </a:xfrm>
          <a:prstGeom prst="rect">
            <a:avLst/>
          </a:prstGeom>
          <a:noFill/>
        </p:spPr>
        <p:txBody>
          <a:bodyPr wrap="square" anchor="t">
            <a:spAutoFit/>
          </a:bodyPr>
          <a:lstStyle/>
          <a:p>
            <a:pPr algn="ctr"/>
            <a:r>
              <a:rPr sz="2200" b="1" i="1">
                <a:solidFill>
                  <a:srgbClr val="BF9000"/>
                </a:solidFill>
                <a:latin typeface="Tahoma"/>
              </a:rPr>
              <a:t>❓ มีคำถามไหมครับ?</a:t>
            </a:r>
          </a:p>
        </p:txBody>
      </p:sp>
      <p:sp>
        <p:nvSpPr>
          <p:cNvPr id="15" name="TextBox 14"/>
          <p:cNvSpPr txBox="1"/>
          <p:nvPr/>
        </p:nvSpPr>
        <p:spPr>
          <a:xfrm>
            <a:off x="457200" y="6446520"/>
            <a:ext cx="10515600" cy="320040"/>
          </a:xfrm>
          <a:prstGeom prst="rect">
            <a:avLst/>
          </a:prstGeom>
          <a:noFill/>
        </p:spPr>
        <p:txBody>
          <a:bodyPr wrap="square" anchor="t">
            <a:spAutoFit/>
          </a:bodyPr>
          <a:lstStyle/>
          <a:p>
            <a:pPr algn="l"/>
            <a:r>
              <a:rPr sz="900" b="0" i="1">
                <a:solidFill>
                  <a:srgbClr val="595959"/>
                </a:solidFill>
                <a:latin typeface="Tahoma"/>
              </a:rPr>
              <a:t>Software Engineering · W1 · ธรรมรัตน์ ธรรมา · ภาคเรียนที่ 1/2569</a:t>
            </a:r>
          </a:p>
        </p:txBody>
      </p:sp>
      <p:sp>
        <p:nvSpPr>
          <p:cNvPr id="16" name="TextBox 15"/>
          <p:cNvSpPr txBox="1"/>
          <p:nvPr/>
        </p:nvSpPr>
        <p:spPr>
          <a:xfrm>
            <a:off x="11338560" y="6446520"/>
            <a:ext cx="457200" cy="320040"/>
          </a:xfrm>
          <a:prstGeom prst="rect">
            <a:avLst/>
          </a:prstGeom>
          <a:noFill/>
        </p:spPr>
        <p:txBody>
          <a:bodyPr wrap="square" anchor="t">
            <a:spAutoFit/>
          </a:bodyPr>
          <a:lstStyle/>
          <a:p>
            <a:pPr algn="r"/>
            <a:r>
              <a:rPr sz="1000" b="0" i="1">
                <a:solidFill>
                  <a:srgbClr val="595959"/>
                </a:solidFill>
                <a:latin typeface="Tahoma"/>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