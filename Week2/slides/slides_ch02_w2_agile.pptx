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914400"/>
            <a:ext cx="2103120" cy="5486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Tahoma"/>
              </a:rPr>
              <a:t>บทที่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Tahoma"/>
              </a:rPr>
              <a:t>กระบวนการพัฒนาซอฟต์แวร์แบบ Agile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D9E2F3"/>
                </a:solidFill>
                <a:latin typeface="Tahoma"/>
              </a:rPr>
              <a:t>Software Engineering · Week 2 · Agile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937760"/>
            <a:ext cx="2103120" cy="4572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Tahoma"/>
              </a:rPr>
              <a:t>ธรรมรัตน์ ธรรมา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D9E2F3"/>
                </a:solidFill>
                <a:latin typeface="Tahoma"/>
              </a:rPr>
              <a:t>ภาควิชาวิทยาการคอมพิวเตอร์ · ภาคเรียนที่ 1 ปีการศึกษา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0"/>
            <a:ext cx="1371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0" b="1" i="0">
                <a:solidFill>
                  <a:srgbClr val="D9E2F3"/>
                </a:solidFill>
                <a:latin typeface="Tahoma"/>
              </a:rP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8686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 i="1">
                <a:solidFill>
                  <a:srgbClr val="1F1F1F"/>
                </a:solidFill>
                <a:latin typeface="Tahoma"/>
              </a:rPr>
              <a:t>Agile is not a noun; Agile is how you do things.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12064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Tahoma"/>
              </a:rPr>
              <a:t>— Andrew Hunt &amp; David Thomas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553212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595959"/>
                </a:solidFill>
                <a:latin typeface="Tahoma"/>
              </a:rPr>
              <a:t>The Pragmatic Programmer, Your Journey to Mastery (Tip 83)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Tahoma"/>
              </a:rPr>
              <a:t>Post-quiz — ท้ายคาบ 1:45–2:00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Tahoma"/>
              </a:rPr>
              <a:t>Post-quiz · 5 MCQ · 1.5%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Tahoma"/>
              </a:rPr>
              <a:t>ท้ายคาบด้วย Post-quiz เพื่อ (1) วัดความเข้าใจหลังเรียน และ (2) สะท้อนความคิดก่อนเข้า Lab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72800" cy="3931920"/>
          </a:xfrm>
          <a:prstGeom prst="roundRect">
            <a:avLst/>
          </a:prstGeom>
          <a:solidFill>
            <a:srgbClr val="D9E2F3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800" i="0" b="1">
                <a:solidFill>
                  <a:srgbClr val="1F4E79"/>
                </a:solidFill>
                <a:latin typeface="Tahoma"/>
              </a:rPr>
              <a:t>Section A — 5 MCQ · 0.3 คะแนนต่อข้อ · เวลา 15 นาที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  <a:latin typeface="Tahoma"/>
              </a:rPr>
              <a:t>A1. Agile Manifesto (2001) มีค่านิยมกี่ข้อ?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  <a:latin typeface="Tahoma"/>
              </a:rPr>
              <a:t>A2. Scrum Master ไม่ใช่หัวหน้าทีม แต่เป็นอะไร?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  <a:latin typeface="Tahoma"/>
              </a:rPr>
              <a:t>A3. Sprint มีระยะเวลา timebox ตายตัวกี่สัปดาห์?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  <a:latin typeface="Tahoma"/>
              </a:rPr>
              <a:t>A4. Definition of Done (ตาม Sommerville) ประกอบด้วยกี่ข้อ?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1F1F"/>
                </a:solidFill>
                <a:latin typeface="Tahoma"/>
              </a:rPr>
              <a:t>A5. ข้อใดเป็น XP Practice ทั้งหมด?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1">
                <a:solidFill>
                  <a:srgbClr val="BF9000"/>
                </a:solidFill>
                <a:latin typeface="Tahoma"/>
              </a:rPr>
              <a:t>💡 เฉลยอยู่ใน quiz.md (ห้ามเปิดจนกว่าจะ submit)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Tahoma"/>
              </a:rPr>
              <a:t>วันนี้เราจะพูดถึงอะไรบ้าง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Tahoma"/>
              </a:rPr>
              <a:t>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777240" cy="7772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5448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Tahoma"/>
              </a:rPr>
              <a:t>Waterfall → Agile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11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Tahoma"/>
              </a:rPr>
              <a:t>วิวัฒนาการ + เปรียบเทียบ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68880"/>
            <a:ext cx="777240" cy="7772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33472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6888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Tahoma"/>
              </a:rPr>
              <a:t>Agile Manifesto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9260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Tahoma"/>
              </a:rPr>
              <a:t>4 ค่านิยม + 12 หลักการ + Essence of Agility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383280"/>
            <a:ext cx="777240" cy="7772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8328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Tahoma"/>
              </a:rPr>
              <a:t>Scrum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8404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Tahoma"/>
              </a:rPr>
              <a:t>3 Roles + 5 Events + 3 Artefacts + DoD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297680"/>
            <a:ext cx="777240" cy="7772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62272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9768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Tahoma"/>
              </a:rPr>
              <a:t>XP Practices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548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Tahoma"/>
              </a:rPr>
              <a:t>Pair Programming + TDD + Sustainable Pace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5212080"/>
            <a:ext cx="777240" cy="7772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76672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ahom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21208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Tahoma"/>
              </a:rPr>
              <a:t>เลือกใช้ Agile อย่างฉลาด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692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Tahoma"/>
              </a:rPr>
              <a:t>Cargo Cult + Spotify + Lab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Tahoma"/>
              </a:rPr>
              <a:t>วัตถุประสงค์การเรียนรู้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Tahoma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595959"/>
                </a:solidFill>
                <a:latin typeface="Tahoma"/>
              </a:rPr>
              <a:t>เมื่อจบบทเรียนนี้ นิสิตสามารถ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F1F1F"/>
                </a:solidFill>
                <a:latin typeface="Tahoma"/>
              </a:rPr>
              <a:t>• อธิบาย วิวัฒนาการของกระบวนการพัฒนาซอฟต์แวร์จาก Waterfall สู่ Agile ได้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1F1F"/>
                </a:solidFill>
                <a:latin typeface="Tahoma"/>
              </a:rPr>
              <a:t>• ระบุ + อธิบาย ค่านิยม 4 ข้อของ Agile Manifesto พร้อมยกตัวอย่าง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1F1F"/>
                </a:solidFill>
                <a:latin typeface="Tahoma"/>
              </a:rPr>
              <a:t>• ประยุกต์ใช้ Scrum Framework — บทบาท พิธีกรรม ผลงาน ในโครงงานจริง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1F1F"/>
                </a:solidFill>
                <a:latin typeface="Tahoma"/>
              </a:rPr>
              <a:t>• เลือกใช้ แนวปฏิบัติทางเทคนิคของ XP ที่เหมาะสมกับบริบทของทีม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1F1F"/>
                </a:solidFill>
                <a:latin typeface="Tahoma"/>
              </a:rPr>
              <a:t>• วิเคราะห์ ว่าทำไม Agile จึงไม่ใช่ "กล่องสำเร็จรูป" และทำไมบางทีมล้มเหลว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Tahoma"/>
              </a:rPr>
              <a:t>การวัดผลสัปดาห์นี้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Tahoma"/>
              </a:rPr>
              <a:t>  • Post-quiz (ท้ายคาบ)  1.5%  · 5 MCQ + 3 reflection · ESP Ch.2 + SE Ch.3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Tahoma"/>
              </a:rPr>
              <a:t>  • Lab 2 (ปลายคาบ)  3.5%  · Sprint Zero Setup + Product 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807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Tahoma"/>
              </a:rPr>
              <a:t>  • รวม  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0" b="1" i="0">
                <a:solidFill>
                  <a:srgbClr val="BF9000"/>
                </a:solidFill>
                <a:latin typeface="Tahoma"/>
              </a:rPr>
              <a:t>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47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Tahoma"/>
              </a:rPr>
              <a:t>From Waterfall to 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D9E2F3"/>
                </a:solidFill>
                <a:latin typeface="Tahoma"/>
              </a:rPr>
              <a:t>บริบททางประวัติศาสตร์ที่นำไปสู่ Snowbird, Utah 2001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D9E2F3"/>
                </a:solidFill>
                <a:latin typeface="Tahoma"/>
              </a:rPr>
              <a:t>Royce (1970) · Takeuchi &amp; Nonaka (1986) · Beck (1999) · Kniberg (2012)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BF9000"/>
                </a:solidFill>
                <a:latin typeface="Tahoma"/>
              </a:rPr>
              <a:t>— กระบวนการเปลี่ยน ไม่ใช่ผลิตภัณฑ์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Tahoma"/>
              </a:rPr>
              <a:t>Waterfall กับ Agile — โลกสองแบบ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Tahoma"/>
              </a:rPr>
              <a:t>Paradigm 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389120"/>
                <a:gridCol w="4846320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ahoma"/>
                        </a:rPr>
                        <a:t>มิติ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ahoma"/>
                        </a:rPr>
                        <a:t>Waterfall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ahoma"/>
                        </a:rPr>
                        <a:t>Agile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1F1F"/>
                          </a:solidFill>
                          <a:latin typeface="Tahoma"/>
                        </a:rPr>
                        <a:t>แนวคิดหลัก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1F1F"/>
                          </a:solidFill>
                          <a:latin typeface="Tahoma"/>
                        </a:rPr>
                        <a:t>ทำตามแผนที่วางไว้ล่วงหน้า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1F1F"/>
                          </a:solidFill>
                          <a:latin typeface="Tahoma"/>
                        </a:rPr>
                        <a:t>ตอบสนองการเปลี่ยนแปลง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1F1F"/>
                          </a:solidFill>
                          <a:latin typeface="Tahoma"/>
                        </a:rPr>
                        <a:t>ขั้นตอน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1F1F"/>
                          </a:solidFill>
                          <a:latin typeface="Tahoma"/>
                        </a:rPr>
                        <a:t>เป็นลำดับ ย้อนกลับยาก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1F1F"/>
                          </a:solidFill>
                          <a:latin typeface="Tahoma"/>
                        </a:rPr>
                        <a:t>Iterative + Incremental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1F1F"/>
                          </a:solidFill>
                          <a:latin typeface="Tahoma"/>
                        </a:rPr>
                        <a:t>Requirements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1F1F"/>
                          </a:solidFill>
                          <a:latin typeface="Tahoma"/>
                        </a:rPr>
                        <a:t>ระบุครบก่อนเริ่ม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1F1F"/>
                          </a:solidFill>
                          <a:latin typeface="Tahoma"/>
                        </a:rPr>
                        <a:t>Evolve ระหว่างทาง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1F1F"/>
                          </a:solidFill>
                          <a:latin typeface="Tahoma"/>
                        </a:rPr>
                        <a:t>การส่งมอบ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1F1F"/>
                          </a:solidFill>
                          <a:latin typeface="Tahoma"/>
                        </a:rPr>
                        <a:t>ส่งครั้งเดียวท้ายสุด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1F1F"/>
                          </a:solidFill>
                          <a:latin typeface="Tahoma"/>
                        </a:rPr>
                        <a:t>ส่งทุก 2–4 สัปดาห์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1F1F"/>
                          </a:solidFill>
                          <a:latin typeface="Tahoma"/>
                        </a:rPr>
                        <a:t>ความเสี่ยง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1F1F"/>
                          </a:solidFill>
                          <a:latin typeface="Tahoma"/>
                        </a:rPr>
                        <a:t>ซ่อนไว้จนส่งมอบ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1F1F"/>
                          </a:solidFill>
                          <a:latin typeface="Tahoma"/>
                        </a:rPr>
                        <a:t>ค้นพบเร็ว จัดการเร็ว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1F1F"/>
                          </a:solidFill>
                          <a:latin typeface="Tahoma"/>
                        </a:rPr>
                        <a:t>เหมาะกับ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1F1F"/>
                          </a:solidFill>
                          <a:latin typeface="Tahoma"/>
                        </a:rPr>
                        <a:t>Requirements ชัด, ลูกค้าไม่วุ่น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1F1F"/>
                          </a:solidFill>
                          <a:latin typeface="Tahoma"/>
                        </a:rPr>
                        <a:t>Requirements ไม่แน่ชัด, ลูกค้าร่วมมือ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1">
                <a:solidFill>
                  <a:srgbClr val="BF9000"/>
                </a:solidFill>
                <a:latin typeface="Tahoma"/>
              </a:rPr>
              <a:t>💡 Agile ไม่ได้เหมาะกับทุกสถานการณ์ — critical safety / fixed requirements → ใช้ Waterfall ดีกว่า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0" b="1" i="0">
                <a:solidFill>
                  <a:srgbClr val="BF9000"/>
                </a:solidFill>
                <a:latin typeface="Tahoma"/>
              </a:rPr>
              <a:t>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47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Tahoma"/>
              </a:rPr>
              <a:t>Agile Manifesto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D9E2F3"/>
                </a:solidFill>
                <a:latin typeface="Tahoma"/>
              </a:rPr>
              <a:t>Snowbird, Utah · 17 ผู้เชี่ยวชาญ · กุมภาพันธ์ 2001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D9E2F3"/>
                </a:solidFill>
                <a:latin typeface="Tahoma"/>
              </a:rPr>
              <a:t>Beck · Fowler · Poppendieck · Jeffries · Schwaber · Sutherland · Thomas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BF9000"/>
                </a:solidFill>
                <a:latin typeface="Tahoma"/>
              </a:rPr>
              <a:t>— 4 ค่านิยม + 12 หลักการ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Tahoma"/>
              </a:rPr>
              <a:t>Agile Manifesto — 4 ค่านิยม (2001)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Tahoma"/>
              </a:rPr>
              <a:t>▶ Individuals and interactions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Tahoma"/>
              </a:rPr>
              <a:t>over over processes and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70AD47"/>
                </a:solidFill>
                <a:latin typeface="Tahoma"/>
              </a:rPr>
              <a:t>↳ คนและการสื่อสารสำคัญกว่าเครื่องมือ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Tahoma"/>
              </a:rPr>
              <a:t>▶ Working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Tahoma"/>
              </a:rPr>
              <a:t>over over comprehensive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79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70AD47"/>
                </a:solidFill>
                <a:latin typeface="Tahoma"/>
              </a:rPr>
              <a:t>↳ ซอฟต์แวร์ที่ใช้งานได้สำคัญกว่าเอกสาร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Tahoma"/>
              </a:rPr>
              <a:t>▶ Customer collaboration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Tahoma"/>
              </a:rPr>
              <a:t>over over contract negotiation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70AD47"/>
                </a:solidFill>
                <a:latin typeface="Tahoma"/>
              </a:rPr>
              <a:t>↳ ร่วมมือกับลูกค้าตลอดโปรเจกต์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F4E79"/>
                </a:solidFill>
                <a:latin typeface="Tahoma"/>
              </a:rPr>
              <a:t>▶ Responding to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86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Tahoma"/>
              </a:rPr>
              <a:t>over over following a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70AD47"/>
                </a:solidFill>
                <a:latin typeface="Tahoma"/>
              </a:rPr>
              <a:t>↳ ปรับตัวตามสถานการณ์จริง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1">
                <a:solidFill>
                  <a:srgbClr val="BF9000"/>
                </a:solidFill>
                <a:latin typeface="Tahoma"/>
              </a:rPr>
              <a:t>ข้อความ "over" ไม่ได้หมายความว่าสิ่งที่อยู่ทางขวา "ไม่ดี" — แต่สิ่งซ้ายมีคุณค่ามากกว่า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Tahoma"/>
              </a:rPr>
              <a:t>12 หลักการ — สรุปเป็น 4 กลุ่ม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20116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500" i="0" b="1">
                <a:solidFill>
                  <a:srgbClr val="BF9000"/>
                </a:solidFill>
                <a:latin typeface="Tahoma"/>
              </a:rPr>
              <a:t>Customer + Delivery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1. ความพึงพอใจลูกค้า (early delivery)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3. ส่งมอบบ่อย (2–4 สัปดาห์)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2. ยอมรับการเปลี่ยนแปลง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486400" cy="20116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500" i="0" b="1">
                <a:solidFill>
                  <a:srgbClr val="BF9000"/>
                </a:solidFill>
                <a:latin typeface="Tahoma"/>
              </a:rPr>
              <a:t>Team + Collaboration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4. ทำงานร่วมกันทุกวัน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5. สร้างโครงการรอบคนมีแรงจูงใจ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6. Face-to-face conversation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39"/>
            <a:ext cx="5486400" cy="20116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500" i="0" b="1">
                <a:solidFill>
                  <a:srgbClr val="BF9000"/>
                </a:solidFill>
                <a:latin typeface="Tahoma"/>
              </a:rPr>
              <a:t>Quality + Tech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7. Working software = primary progress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9. Technical excellence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8. Sustainable 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749039"/>
            <a:ext cx="5486400" cy="20116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500" i="0" b="1">
                <a:solidFill>
                  <a:srgbClr val="BF9000"/>
                </a:solidFill>
                <a:latin typeface="Tahoma"/>
              </a:rPr>
              <a:t>Process + Adaptation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10. Simplicity = ลดงานที่ไม่จำเป็น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11. Self-organizing teams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12. Regular reflection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Tahoma"/>
              </a:rPr>
              <a:t>Essence of Agility — PP Tip 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Tahoma"/>
              </a:rPr>
              <a:t>⭐ Agile is not a noun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1247120" cy="1463040"/>
          </a:xfrm>
          <a:prstGeom prst="roundRect">
            <a:avLst/>
          </a:prstGeom>
          <a:solidFill>
            <a:srgbClr val="D9E2F3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2000" i="1" b="0">
                <a:solidFill>
                  <a:srgbClr val="1F1F1F"/>
                </a:solidFill>
                <a:latin typeface="Tahoma"/>
              </a:rPr>
              <a:t>"Agile is not a noun. Agile is an adjective. We don't do Agile, we behave agilely."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595959"/>
                </a:solidFill>
                <a:latin typeface="Tahoma"/>
              </a:rPr>
              <a:t>— Hunt &amp; Thomas, The Pragmatic Programmer (Tip 83, 2019)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Tahoma"/>
              </a:rPr>
              <a:t>Scrum-in-a-Box = Cargo Cult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F1F1F"/>
                </a:solidFill>
                <a:latin typeface="Tahoma"/>
              </a:rPr>
              <a:t>• Daily Standup ทำอาทิตย์ละครั้ง (ไม่ใช่ทุกวัน)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1F1F"/>
                </a:solidFill>
                <a:latin typeface="Tahoma"/>
              </a:rPr>
              <a:t>• Iteration ยาว 6–8 สัปดาห์ (ไม่ใช่ 2–4)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1F1F"/>
                </a:solidFill>
                <a:latin typeface="Tahoma"/>
              </a:rPr>
              <a:t>• ไม่มี Demo ให้ผู้ใช้จริง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1F1F"/>
                </a:solidFill>
                <a:latin typeface="Tahoma"/>
              </a:rPr>
              <a:t>• ไม่มี Retrospective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F1F1F"/>
                </a:solidFill>
                <a:latin typeface="Tahoma"/>
              </a:rPr>
              <a:t>• ทำพิธีกรรม แต่ขาดเนื้อหา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1">
                <a:solidFill>
                  <a:srgbClr val="C00000"/>
                </a:solidFill>
                <a:latin typeface="Tahoma"/>
              </a:rPr>
              <a:t>Agile ที่แท้จริง = ตอบสนองการเปลี่ยนแปลงได้ — ไม่ใช่จำนวน ceremony ที่ทำ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0" b="1" i="0">
                <a:solidFill>
                  <a:srgbClr val="BF9000"/>
                </a:solidFill>
                <a:latin typeface="Tahoma"/>
              </a:rPr>
              <a:t>2.4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47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Tahoma"/>
              </a:rPr>
              <a:t>Scrum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D9E2F3"/>
                </a:solidFill>
                <a:latin typeface="Tahoma"/>
              </a:rPr>
              <a:t>Schwaber &amp; Sutherland · Scrum Guide 2020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D9E2F3"/>
                </a:solidFill>
                <a:latin typeface="Tahoma"/>
              </a:rPr>
              <a:t>Framework (ไม่ใช่ Process) — บอก "ทำอะไร" แต่ไม่ได้บอก "ทำอย่างไร"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BF9000"/>
                </a:solidFill>
                <a:latin typeface="Tahoma"/>
              </a:rPr>
              <a:t>— 3 Roles + 5 Events + 3 Artefacts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Tahoma"/>
              </a:rPr>
              <a:t>Scrum 3 บทบาท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Tahoma"/>
              </a:rPr>
              <a:t>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42976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 i="0" b="1">
                <a:solidFill>
                  <a:srgbClr val="1F4E79"/>
                </a:solidFill>
                <a:latin typeface="Tahoma"/>
              </a:rPr>
              <a:t>Product Owner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จัดทำ + จัดลำดับ Product Backlog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ตัดสินใจว่าจะส่งมอบอะไร เมื่อไหร่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รับผิดชอบ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Tahoma"/>
              </a:rPr>
              <a:t>ผู้รับผิดชอบ value ทางธุรกิจ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657600" cy="42976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 i="0" b="1">
                <a:solidFill>
                  <a:srgbClr val="2E75B6"/>
                </a:solidFill>
                <a:latin typeface="Tahoma"/>
              </a:rPr>
              <a:t>Scrum Master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อำนวยความสะดวกในกิจกรรม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ขจัดอุปสรรคทีม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สอน Scrum ให้ทีม/องค์กร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1031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Tahoma"/>
              </a:rPr>
              <a:t>ผู้ดูแลกระบวนการ (servant leader)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657600" cy="42976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 i="0" b="1">
                <a:solidFill>
                  <a:srgbClr val="70AD47"/>
                </a:solidFill>
                <a:latin typeface="Tahoma"/>
              </a:rPr>
              <a:t>Developers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cross-functional (Frontend, Backend, QA, DevOps)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3–9 คน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Self-organizing — ตัดสินใจ "อย่างไร"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031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Tahoma"/>
              </a:rPr>
              <a:t>ผู้ส่งมอบ Increment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1">
                <a:solidFill>
                  <a:srgbClr val="BF9000"/>
                </a:solidFill>
                <a:latin typeface="Tahoma"/>
              </a:rPr>
              <a:t>PO ≠ หัวหน้าโปรเจกต์ · SM ≠ หัวหน้าทีม · Developers = ตัดสินใจเรื่องเทคนิคเอง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Tahoma"/>
              </a:rPr>
              <a:t>Scrum 5 พิธีกรรม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Tahoma"/>
              </a:rPr>
              <a:t>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3383280"/>
                <a:gridCol w="274320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ahoma"/>
                        </a:rPr>
                        <a:t>พิธีกรรม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ahoma"/>
                        </a:rPr>
                        <a:t>ระยะเวลา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ahoma"/>
                        </a:rPr>
                        <a:t>วัตถุประสงค์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ahoma"/>
                        </a:rPr>
                        <a:t>ผู้เข้าร่วม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Sprint Planning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≤ 8 ชม. (Sprint 4 สัปดาห์)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วางแผน Sprint ถัดไป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ทั้งทีม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Daily Scrum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15 นาที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ซิงค์งาน + ระบุอุปสรรค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Developers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Sprint 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≤ 4 ชม. (Sprint 4 สัปดาห์)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Demo Increment ให้ stakeholder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ทีม + Stakeholder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Sprint Retrospective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≤ 3 ชม. (Sprint 4 สัปดาห์)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สะท้อนกระบวนการทำงาน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ทีม Scrum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Backlog Refinement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≤ 10% Sprint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เตรียม Backlog ให้พร้อม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1F1F"/>
                          </a:solidFill>
                          <a:latin typeface="Tahoma"/>
                        </a:rPr>
                        <a:t>PO + Developers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1">
                <a:solidFill>
                  <a:srgbClr val="BF9000"/>
                </a:solidFill>
                <a:latin typeface="Tahoma"/>
              </a:rPr>
              <a:t>💡 Sprint เป็น timebox — งานที่ไม่เสร็จกลับ backlog ห้ามขยาย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Tahoma"/>
              </a:rPr>
              <a:t>Scrum 3 ผลงาน + Definition of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Tahoma"/>
              </a:rPr>
              <a:t>Artefacts + DoD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2560320"/>
          </a:xfrm>
          <a:prstGeom prst="roundRect">
            <a:avLst/>
          </a:prstGeom>
          <a:solidFill>
            <a:srgbClr val="D9E2F3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600" i="0" b="1">
                <a:solidFill>
                  <a:srgbClr val="1F4E79"/>
                </a:solidFill>
                <a:latin typeface="Tahoma"/>
              </a:rPr>
              <a:t>Product Backlog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>รายการทุกอย่างที่อาจต้องทำ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>เรียงตามความสำคัญ</a:t>
            </a:r>
          </a:p>
          <a:p>
            <a:r>
              <a:rPr sz="1100" i="1">
                <a:solidFill>
                  <a:srgbClr val="595959"/>
                </a:solidFill>
                <a:latin typeface="Tahoma"/>
              </a:rPr>
              <a:t>↳ features, bugs, technical work, knowledge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657600" cy="2560320"/>
          </a:xfrm>
          <a:prstGeom prst="roundRect">
            <a:avLst/>
          </a:prstGeom>
          <a:solidFill>
            <a:srgbClr val="D9E2F3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600" i="0" b="1">
                <a:solidFill>
                  <a:srgbClr val="1F4E79"/>
                </a:solidFill>
                <a:latin typeface="Tahoma"/>
              </a:rPr>
              <a:t>Sprint Backlog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>งานที่ทีมตกลงทำใน Sprint ปัจจุบัน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>อัปเดตทุกวัน</a:t>
            </a:r>
          </a:p>
          <a:p>
            <a:r>
              <a:rPr sz="1100" i="1">
                <a:solidFill>
                  <a:srgbClr val="595959"/>
                </a:solidFill>
                <a:latin typeface="Tahoma"/>
              </a:rPr>
              <a:t>↳ แผนที่ชัดเจนสำหรับ Sprint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463040"/>
            <a:ext cx="3657600" cy="2560320"/>
          </a:xfrm>
          <a:prstGeom prst="roundRect">
            <a:avLst/>
          </a:prstGeom>
          <a:solidFill>
            <a:srgbClr val="D9E2F3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600" i="0" b="1">
                <a:solidFill>
                  <a:srgbClr val="1F4E79"/>
                </a:solidFill>
                <a:latin typeface="Tahoma"/>
              </a:rPr>
              <a:t>Increment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>ผลรวม Items ที่ Done ใน Sprint นี้ + ก่อนหน้า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>potentially shippable</a:t>
            </a:r>
          </a:p>
          <a:p>
            <a:r>
              <a:rPr sz="1100" i="1">
                <a:solidFill>
                  <a:srgbClr val="595959"/>
                </a:solidFill>
                <a:latin typeface="Tahoma"/>
              </a:rPr>
              <a:t>↳ เป็น increment ของ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06240"/>
            <a:ext cx="11247120" cy="15544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 i="0" b="1">
                <a:solidFill>
                  <a:srgbClr val="BF9000"/>
                </a:solidFill>
                <a:latin typeface="Tahoma"/>
              </a:rPr>
              <a:t>Definition of Done (DoD) — เกณฑ์ 5 ข้อที่ "เสร็จ" หมายถึง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1. Reviewed · 2. Unit tested · 3. Integrated · 4. Integration tested · 5. Accepted by PO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(ทีมสามารถเพิ่มเกณฑ์อื่นได้ เช่น documentation, performance test, security review)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1">
                <a:solidFill>
                  <a:srgbClr val="C00000"/>
                </a:solidFill>
                <a:latin typeface="Tahoma"/>
              </a:rPr>
              <a:t>Done = ส่งมอบได้ ไม่ใช่แค่ "compile ผ่าน"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Tahoma"/>
              </a:rPr>
              <a:t>Velocity + Burndown / Burnup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Tahoma"/>
              </a:rPr>
              <a:t>ตัวชี้วัด Sprint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Tahoma"/>
              </a:rPr>
              <a:t>Velocity = story points ที่ทีมทำเสร็จต่อ Sprint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057400"/>
            <a:ext cx="228600" cy="22860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70AD47"/>
                </a:solidFill>
                <a:latin typeface="Tahoma"/>
              </a:rPr>
              <a:t>ใช้ค่อนข้างคงที่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96596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Tahoma"/>
              </a:rPr>
              <a:t>ทีมที่ดีมี velocity ค่อนข้างนิ่ง — ใช้เป็นฐานวางแผน Sprint ถัดไป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97479"/>
            <a:ext cx="228600" cy="2286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Tahoma"/>
              </a:rPr>
              <a:t>เปรียบเทียบระหว่าง Sprint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606039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Tahoma"/>
              </a:rPr>
              <a:t>ดูว่าทีมปรับปรุงไหม — ถ้าลดลง = มีอุปสรรค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337560"/>
            <a:ext cx="228600" cy="2286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004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Tahoma"/>
              </a:rPr>
              <a:t>❌ ห้ามใช้กับคน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4612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Tahoma"/>
              </a:rPr>
              <a:t>ไม่ใช่ตัววัดผลงานรายบุคคล — เป็นตัววัดทีม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97680"/>
            <a:ext cx="5486400" cy="1554480"/>
          </a:xfrm>
          <a:prstGeom prst="roundRect">
            <a:avLst/>
          </a:prstGeom>
          <a:solidFill>
            <a:srgbClr val="D9E2F3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 i="0" b="1">
                <a:solidFill>
                  <a:srgbClr val="1F4E79"/>
                </a:solidFill>
                <a:latin typeface="Tahoma"/>
              </a:rPr>
              <a:t>Burndown Chart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แสดงงานที่เหลือใน Sprint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ตามเวลา → เห็นว่า on track ไหม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เส้นลง = ดี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486400" cy="15544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 i="0" b="1">
                <a:solidFill>
                  <a:srgbClr val="BF9000"/>
                </a:solidFill>
                <a:latin typeface="Tahoma"/>
              </a:rPr>
              <a:t>Burnup Chart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แสดงงานที่เสร็จ + ขอบเขตรวม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ดีกว่าสำหรับ scope ที่เปลี่ยน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เส้นขึ้น = ดี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0" b="1" i="0">
                <a:solidFill>
                  <a:srgbClr val="BF9000"/>
                </a:solidFill>
                <a:latin typeface="Tahoma"/>
              </a:rPr>
              <a:t>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47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Tahoma"/>
              </a:rPr>
              <a:t>Extreme Programming (XP)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D9E2F3"/>
                </a:solidFill>
                <a:latin typeface="Tahoma"/>
              </a:rPr>
              <a:t>Kent Beck · Chrysler C3 Project · 1990s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D9E2F3"/>
                </a:solidFill>
                <a:latin typeface="Tahoma"/>
              </a:rPr>
              <a:t>"เอาแนวปฏิบัติที่ดีอยู่แล้วมาทำให้สุด ๆ"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BF9000"/>
                </a:solidFill>
                <a:latin typeface="Tahoma"/>
              </a:rPr>
              <a:t>— Review → Pair Programming · Testing → TDD · Integration → CI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Tahoma"/>
              </a:rPr>
              <a:t>XP — 12 แนวปฏิบัติทางเทคนิค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Tahoma"/>
              </a:rPr>
              <a:t>Pick-and-Mix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17320"/>
          <a:ext cx="11430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6400800"/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หมวด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แนวปฏิบัติ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คำอธิบาย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Planning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Planning Game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Business + Tech ร่วมกันกำหนด value + estimate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Small Releases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ส่งมอบทีละน้อย ได้ feedback เร็ว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Managing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Sustainable Pace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ไม่ทำงานล่วงเวลาเกินไป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Whole Team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ทุกคนมีส่วนร่วมเต็มที่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Designing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Simple Design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ทำให้ง่ายที่สุดที่ใช้การได้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Refactoring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ปรับปรุงโครงสร้างโค้ดต่อเนื่อง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Coding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Pair Programming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เขียนโค้ด 2 คน 1 เครื่อง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Collective Code Ownership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ทุกคนมีสิทธิ์แก้ไขทุกส่วน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Coding Standards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มาตรฐานที่ทีมตกลงร่วมกัน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Testing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Test-Driven Development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เขียน test ก่อน production code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Continuous Integration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1F1F"/>
                          </a:solidFill>
                          <a:latin typeface="Tahoma"/>
                        </a:rPr>
                        <a:t>รวมโค้ดทุกครั้งที่เปลี่ยน + รัน test อัตโนมัติ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8521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1">
                <a:solidFill>
                  <a:srgbClr val="BF9000"/>
                </a:solidFill>
                <a:latin typeface="Tahoma"/>
              </a:rPr>
              <a:t>💡 ทีมไม่จำเป็นต้องทำทุก practice — เลือกที่เหมาะกับบริบท (Pick-and-Mix)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Tahoma"/>
              </a:rPr>
              <a:t>Pair Programming — ในรายละเอียด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Tahoma"/>
              </a:rPr>
              <a:t>เขียนโค้ด 2 คน 1 เครื่อง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21031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600" i="0" b="1">
                <a:solidFill>
                  <a:srgbClr val="BF9000"/>
                </a:solidFill>
                <a:latin typeface="Tahoma"/>
              </a:rPr>
              <a:t>Driver (คนพิมพ์)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คิดเรื่อง syntax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รายละเอียดทางเทคนิค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โฟกัสที่ task เล็ก 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486400" cy="210312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600" i="0" b="1">
                <a:solidFill>
                  <a:srgbClr val="C00000"/>
                </a:solidFill>
                <a:latin typeface="Tahoma"/>
              </a:rPr>
              <a:t>Navigator (คนดู)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คิดเรื่อง scope, design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edge cases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ทิศทางโดยรวม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E75B6"/>
                </a:solidFill>
                <a:latin typeface="Tahoma"/>
              </a:rPr>
              <a:t>↻ สลับหน้าที่ทุก 20–30 นาที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97680"/>
            <a:ext cx="5486400" cy="16459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 i="0" b="1">
                <a:solidFill>
                  <a:srgbClr val="BF9000"/>
                </a:solidFill>
                <a:latin typeface="Tahoma"/>
              </a:rPr>
              <a:t>✅ ประโยชน์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>• Review ตลอดเวลา · Share knowledge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>• ลด knowledge silo · Peer pressure ลด slacking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97680"/>
            <a:ext cx="5486400" cy="164592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 i="0" b="1">
                <a:solidFill>
                  <a:srgbClr val="C00000"/>
                </a:solidFill>
                <a:latin typeface="Tahoma"/>
              </a:rPr>
              <a:t>⚠️ ข้อจำกัด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>• ลงทุนเวลา 1.5–2 เท่า · ต้องวัด ROI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>• ไม่เหมาะกับงาน routine (config files)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Tahoma"/>
              </a:rPr>
              <a:t>Cargo Cult vs Real Agile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Tahoma"/>
              </a:rPr>
              <a:t>เลือกใช้ Agile อย่างฉลาด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411480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600" i="0" b="1">
                <a:solidFill>
                  <a:srgbClr val="C00000"/>
                </a:solidFill>
                <a:latin typeface="Tahoma"/>
              </a:rPr>
              <a:t>❌ Cargo Cult Agile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Daily Standup ทำอาทิตย์ละครั้ง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แต่ไม่ได้ซิงค์งานจริง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มี Sprint Backlog แต่ไม่ได้ตกลงร่วมกัน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Iteration 6–8 สัปดาห์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ไม่มี Demo / ไม่มี Retro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ทำตามชื่อพิธีกรรม แต่ขาดเนื้อหา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486400" cy="41148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600" i="0" b="1">
                <a:solidFill>
                  <a:srgbClr val="BF9000"/>
                </a:solidFill>
                <a:latin typeface="Tahoma"/>
              </a:rPr>
              <a:t>✅ Real Agile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ตอบสนองการเปลี่ยนแปลงได้จริง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Sprint 2–4 สัปดาห์ — timebox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Demo ให้ผู้ใช้ทุก Sprint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Retrospective เป็นวัฒนธรรม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Working software ทุก Sprint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ahoma"/>
              </a:rPr>
              <a:t>• PP T83: "behave agilely"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1">
                <a:solidFill>
                  <a:srgbClr val="BF9000"/>
                </a:solidFill>
                <a:latin typeface="Tahoma"/>
              </a:rPr>
              <a:t>💡 Spotify Model: Kniberg เตือน "Don't copy — we don't use it anymore"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Tahoma"/>
              </a:rPr>
              <a:t>Post-quiz — ท้ายคาบ 1:45–2:00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Tahoma"/>
              </a:rPr>
              <a:t>Reflection · Section B (formative) · Bridge to Lab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Tahoma"/>
              </a:rPr>
              <a:t>ท้ายบรรยายก่อนไป Lab 2 — เขียน 3 reflection → commit เป็น reflect.md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965960"/>
            <a:ext cx="411480" cy="4114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ahoma"/>
              </a:rPr>
              <a:t>B1. Apply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202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Tahoma"/>
              </a:rPr>
              <a:t>B1. Apply — Sprint Trade-off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317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Tahoma"/>
              </a:rPr>
              <a:t>→ Sprint 2 สัปดาห์ใกล้จบ งานเหลือ 2 stories หัวหน้าเสนอขยาย 3 วัน → โต้แย้งอย่างไร? (อ้าง Scrum + PP T83)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063239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39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ahoma"/>
              </a:rPr>
              <a:t>B2. 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175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Tahoma"/>
              </a:rPr>
              <a:t>B2. Connect — Cargo Cult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290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Tahoma"/>
              </a:rPr>
              <a:t>→ เลือก Cargo Cult 1 อย่างในชีวิตจริง → pattern คืออะไร / ขาด essence / เปลี่ยนยังไง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ahoma"/>
              </a:rPr>
              <a:t>B3. Reflect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148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70AD47"/>
                </a:solidFill>
                <a:latin typeface="Tahoma"/>
              </a:rPr>
              <a:t>B3. Reflect — XP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5262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Tahoma"/>
              </a:rPr>
              <a:t>→ เลือก XP Practice 1 อย่างที่อยากลอง Sprint ถัดไป + เหตุผล 1 ประโยค (ใส่ Sprint Backlog Lab 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1">
                <a:solidFill>
                  <a:srgbClr val="BF9000"/>
                </a:solidFill>
                <a:latin typeface="Tahoma"/>
              </a:rPr>
              <a:t>🎯 ส่ง: branch feature/post-quiz-2 → reflect.md → PR (merge พร้อม Lab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Tahoma"/>
              </a:rPr>
              <a:t>Lab 2 — Sprint Zero + สรุปสาระสำคัญ + สัปดาห์หน้า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486400" cy="43891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500" i="0" b="1">
                <a:solidFill>
                  <a:srgbClr val="BF9000"/>
                </a:solidFill>
                <a:latin typeface="Tahoma"/>
              </a:rPr>
              <a:t>Lab 2 — Sprint Zero (2 ชม.)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>📋 ตั้ง GitHub Project Board (5 columns)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>📝 เขียน Project Proposal (Theme/Persona/MoSCoW)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>📦 สร้าง 5–10 Product Backlog Items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>✅ ตกลง Definition of Done (5+ items)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>🗓️ ทดลอง Daily Standup 1 รอบ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>🔄 Sprint Zero Planning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>เกณฑ์: Completion + Effort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F1F1F"/>
                </a:solidFill>
                <a:latin typeface="Tahoma"/>
              </a:rPr>
              <a:t>• ครบ 4 deliverables = 3.5%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173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Tahoma"/>
              </a:rPr>
              <a:t>4 Take-aways จากวันนี้</a:t>
            </a:r>
          </a:p>
        </p:txBody>
      </p:sp>
      <p:sp>
        <p:nvSpPr>
          <p:cNvPr id="6" name="Oval 5"/>
          <p:cNvSpPr/>
          <p:nvPr/>
        </p:nvSpPr>
        <p:spPr>
          <a:xfrm>
            <a:off x="6492240" y="2011680"/>
            <a:ext cx="228600" cy="2286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920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Tahoma"/>
              </a:rPr>
              <a:t>Agile ≠ Waterfall — ตอบสนอง change ได้</a:t>
            </a:r>
          </a:p>
        </p:txBody>
      </p:sp>
      <p:sp>
        <p:nvSpPr>
          <p:cNvPr id="8" name="Oval 7"/>
          <p:cNvSpPr/>
          <p:nvPr/>
        </p:nvSpPr>
        <p:spPr>
          <a:xfrm>
            <a:off x="6492240" y="2606040"/>
            <a:ext cx="228600" cy="2286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5146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Tahoma"/>
              </a:rPr>
              <a:t>Manifesto 4 ค่านิยม + 12 หลักการ</a:t>
            </a:r>
          </a:p>
        </p:txBody>
      </p:sp>
      <p:sp>
        <p:nvSpPr>
          <p:cNvPr id="10" name="Oval 9"/>
          <p:cNvSpPr/>
          <p:nvPr/>
        </p:nvSpPr>
        <p:spPr>
          <a:xfrm>
            <a:off x="6492240" y="3200400"/>
            <a:ext cx="228600" cy="2286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31089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Tahoma"/>
              </a:rPr>
              <a:t>Scrum: 3R + 5E + 3A + DoD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3794759"/>
            <a:ext cx="228600" cy="2286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7033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Tahoma"/>
              </a:rPr>
              <a:t>ไม่ใช่กล่องสำเร็จรูป — เลือกบริบท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297680"/>
            <a:ext cx="5486400" cy="1554480"/>
          </a:xfrm>
          <a:prstGeom prst="roundRect">
            <a:avLst/>
          </a:prstGeom>
          <a:solidFill>
            <a:srgbClr val="1F4E79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l"/>
            <a:r>
              <a:rPr sz="1400" b="1">
                <a:solidFill>
                  <a:srgbClr val="BF9000"/>
                </a:solidFill>
                <a:latin typeface="Tahoma"/>
              </a:rPr>
              <a:t>สัปดาห์หน้า · W3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Tahoma"/>
              </a:rPr>
              <a:t>Requirements Engineering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9E2F3"/>
                </a:solidFill>
                <a:latin typeface="Tahoma"/>
              </a:rPr>
              <a:t>• User Stories + AC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9E2F3"/>
                </a:solidFill>
                <a:latin typeface="Tahoma"/>
              </a:rPr>
              <a:t>• INVEST criteria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D9E2F3"/>
                </a:solidFill>
                <a:latin typeface="Tahoma"/>
              </a:rPr>
              <a:t>• Stakeholder interviews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BF9000"/>
                </a:solidFill>
                <a:latin typeface="Tahoma"/>
              </a:rPr>
              <a:t>อ่านล่วงหน้า: [ESP] Ch.3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1">
                <a:solidFill>
                  <a:srgbClr val="BF9000"/>
                </a:solidFill>
                <a:latin typeface="Tahoma"/>
              </a:rPr>
              <a:t>❓ มีคำถามไหมครับ?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Tahoma"/>
              </a:rPr>
              <a:t>Software Engineering · W2 · ธรรมรัตน์ ธรรมา · ภาคเรียนที่ 1/2569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595959"/>
                </a:solidFill>
                <a:latin typeface="Tahoma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